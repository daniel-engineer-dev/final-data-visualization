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4400">
          <a:solidFill>
            <a:schemeClr val="tx1"/>
          </a:solidFill>
          <a:latin typeface="Segoe UI"/>
        </a:defRPr>
      </a:lvl1pPr>
    </p:titleStyle>
    <p:bodyStyle>
      <a:lvl1pPr>
        <a:defRPr sz="1800">
          <a:solidFill>
            <a:schemeClr val="tx1"/>
          </a:solidFill>
          <a:latin typeface="Segoe UI"/>
        </a:defRPr>
      </a:lvl1pPr>
    </p:bodyStyle>
    <p:otherStyle>
      <a:lvl1pPr>
        <a:defRPr sz="1800">
          <a:solidFill>
            <a:schemeClr val="tx1"/>
          </a:solidFill>
          <a:latin typeface="Segoe UI"/>
        </a:defRPr>
      </a:lvl1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
          <p:cNvSpPr/>
          <p:nvPr/>
        </p:nvSpPr>
        <p:spPr>
          <a:xfrm>
            <a:off x="0" y="0"/>
            <a:ext cx="12191695" cy="100584"/>
          </a:xfrm>
          <a:prstGeom prst="rect">
            <a:avLst/>
          </a:prstGeom>
          <a:solidFill>
            <a:srgbClr val="0070C0"/>
          </a:solidFill>
          <a:ln>
            <a:noFill/>
          </a:ln>
        </p:spPr>
        <p:txBody>
          <a:bodyPr/>
          <a:lstStyle/>
          <a:p>
            <a:endParaRPr/>
          </a:p>
        </p:txBody>
      </p:sp>
      <p:pic>
        <p:nvPicPr>
          <p:cNvPr id="3" name="img"/>
          <p:cNvPicPr>
            <a:picLocks noChangeAspect="1"/>
          </p:cNvPicPr>
          <p:nvPr/>
        </p:nvPicPr>
        <p:blipFill>
          <a:blip r:embed="rId2"/>
          <a:stretch>
            <a:fillRect/>
          </a:stretch>
        </p:blipFill>
        <p:spPr>
          <a:xfrm>
            <a:off x="548640" y="411480"/>
            <a:ext cx="960120" cy="960120"/>
          </a:xfrm>
          <a:prstGeom prst="rect">
            <a:avLst/>
          </a:prstGeom>
        </p:spPr>
      </p:pic>
      <p:sp>
        <p:nvSpPr>
          <p:cNvPr id="4" name="t"/>
          <p:cNvSpPr txBox="1"/>
          <p:nvPr/>
        </p:nvSpPr>
        <p:spPr>
          <a:xfrm>
            <a:off x="1691640" y="457200"/>
            <a:ext cx="8229600" cy="868680"/>
          </a:xfrm>
          <a:prstGeom prst="rect">
            <a:avLst/>
          </a:prstGeom>
          <a:noFill/>
        </p:spPr>
        <p:txBody>
          <a:bodyPr wrap="square" lIns="63500" tIns="38100" rIns="63500" bIns="38100" anchor="t">
            <a:normAutofit/>
          </a:bodyPr>
          <a:lstStyle/>
          <a:p>
            <a:pPr algn="l">
              <a:lnSpc>
                <a:spcPct val="115000"/>
              </a:lnSpc>
              <a:spcAft>
                <a:spcPts val="300"/>
              </a:spcAft>
            </a:pPr>
            <a:r>
              <a:rPr lang="vi-VN" sz="1200" b="0" i="0" dirty="0">
                <a:solidFill>
                  <a:srgbClr val="5A6B7B"/>
                </a:solidFill>
                <a:latin typeface="Segoe UI"/>
                <a:cs typeface="Segoe UI"/>
              </a:rPr>
              <a:t>ĐẠI HỌC QUỐC GIA TP. HỒ CHÍ MINH</a:t>
            </a:r>
          </a:p>
          <a:p>
            <a:pPr algn="l">
              <a:lnSpc>
                <a:spcPct val="115000"/>
              </a:lnSpc>
              <a:spcAft>
                <a:spcPts val="300"/>
              </a:spcAft>
            </a:pPr>
            <a:r>
              <a:rPr lang="vi-VN" sz="1300" b="1" i="0" dirty="0">
                <a:solidFill>
                  <a:srgbClr val="002B5C"/>
                </a:solidFill>
                <a:latin typeface="Segoe UI"/>
                <a:cs typeface="Segoe UI"/>
              </a:rPr>
              <a:t>TRƯỜNG ĐẠI HỌC KHOA HỌC TỰ NHIÊN</a:t>
            </a:r>
          </a:p>
          <a:p>
            <a:pPr algn="l">
              <a:lnSpc>
                <a:spcPct val="115000"/>
              </a:lnSpc>
              <a:spcAft>
                <a:spcPts val="300"/>
              </a:spcAft>
            </a:pPr>
            <a:r>
              <a:rPr lang="vi-VN" sz="1200" b="0" i="0" dirty="0">
                <a:solidFill>
                  <a:srgbClr val="5A6B7B"/>
                </a:solidFill>
                <a:latin typeface="Segoe UI"/>
                <a:cs typeface="Segoe UI"/>
              </a:rPr>
              <a:t>Khoa Công nghệ Thông tin — Học phần Trực quan hóa dữ liệu</a:t>
            </a:r>
          </a:p>
        </p:txBody>
      </p:sp>
      <p:sp>
        <p:nvSpPr>
          <p:cNvPr id="5" name="s"/>
          <p:cNvSpPr/>
          <p:nvPr/>
        </p:nvSpPr>
        <p:spPr>
          <a:xfrm>
            <a:off x="548640" y="1874520"/>
            <a:ext cx="2377440" cy="402336"/>
          </a:xfrm>
          <a:prstGeom prst="roundRect">
            <a:avLst/>
          </a:prstGeom>
          <a:solidFill>
            <a:srgbClr val="002B5C"/>
          </a:solidFill>
          <a:ln>
            <a:noFill/>
          </a:ln>
        </p:spPr>
        <p:txBody>
          <a:bodyPr/>
          <a:lstStyle/>
          <a:p>
            <a:endParaRPr/>
          </a:p>
        </p:txBody>
      </p:sp>
      <p:sp>
        <p:nvSpPr>
          <p:cNvPr id="6" name="t"/>
          <p:cNvSpPr txBox="1"/>
          <p:nvPr/>
        </p:nvSpPr>
        <p:spPr>
          <a:xfrm>
            <a:off x="548640" y="1874520"/>
            <a:ext cx="2377440" cy="402336"/>
          </a:xfrm>
          <a:prstGeom prst="rect">
            <a:avLst/>
          </a:prstGeom>
          <a:noFill/>
        </p:spPr>
        <p:txBody>
          <a:bodyPr wrap="square" lIns="63500" tIns="38100" rIns="63500" bIns="38100" anchor="ctr">
            <a:normAutofit/>
          </a:bodyPr>
          <a:lstStyle/>
          <a:p>
            <a:pPr algn="ctr">
              <a:lnSpc>
                <a:spcPct val="100000"/>
              </a:lnSpc>
              <a:spcAft>
                <a:spcPts val="300"/>
              </a:spcAft>
            </a:pPr>
            <a:r>
              <a:rPr lang="vi-VN" sz="1200" b="1" i="0" dirty="0">
                <a:solidFill>
                  <a:srgbClr val="FFFFFF"/>
                </a:solidFill>
                <a:latin typeface="Segoe UI"/>
                <a:cs typeface="Segoe UI"/>
              </a:rPr>
              <a:t>ĐỒ ÁN CUỐI KỲ · NHÓM 1</a:t>
            </a:r>
          </a:p>
        </p:txBody>
      </p:sp>
      <p:sp>
        <p:nvSpPr>
          <p:cNvPr id="7" name="t"/>
          <p:cNvSpPr txBox="1"/>
          <p:nvPr/>
        </p:nvSpPr>
        <p:spPr>
          <a:xfrm>
            <a:off x="548640" y="2395728"/>
            <a:ext cx="10972800" cy="914400"/>
          </a:xfrm>
          <a:prstGeom prst="rect">
            <a:avLst/>
          </a:prstGeom>
          <a:noFill/>
        </p:spPr>
        <p:txBody>
          <a:bodyPr wrap="square" lIns="63500" tIns="38100" rIns="63500" bIns="38100" anchor="t">
            <a:normAutofit/>
          </a:bodyPr>
          <a:lstStyle/>
          <a:p>
            <a:pPr algn="l">
              <a:lnSpc>
                <a:spcPct val="100000"/>
              </a:lnSpc>
              <a:spcAft>
                <a:spcPts val="300"/>
              </a:spcAft>
            </a:pPr>
            <a:r>
              <a:rPr lang="vi-VN" sz="4400" b="1" i="0" dirty="0">
                <a:solidFill>
                  <a:srgbClr val="002B5C"/>
                </a:solidFill>
                <a:latin typeface="Segoe UI"/>
                <a:cs typeface="Segoe UI"/>
              </a:rPr>
              <a:t>Vietnam Climate Pulse</a:t>
            </a:r>
          </a:p>
        </p:txBody>
      </p:sp>
      <p:sp>
        <p:nvSpPr>
          <p:cNvPr id="8" name="t"/>
          <p:cNvSpPr txBox="1"/>
          <p:nvPr/>
        </p:nvSpPr>
        <p:spPr>
          <a:xfrm>
            <a:off x="548640" y="3291840"/>
            <a:ext cx="10241280" cy="822960"/>
          </a:xfrm>
          <a:prstGeom prst="rect">
            <a:avLst/>
          </a:prstGeom>
          <a:noFill/>
        </p:spPr>
        <p:txBody>
          <a:bodyPr wrap="square" lIns="63500" tIns="38100" rIns="63500" bIns="38100" anchor="t">
            <a:normAutofit/>
          </a:bodyPr>
          <a:lstStyle/>
          <a:p>
            <a:pPr algn="l">
              <a:lnSpc>
                <a:spcPct val="118000"/>
              </a:lnSpc>
              <a:spcAft>
                <a:spcPts val="300"/>
              </a:spcAft>
            </a:pPr>
            <a:r>
              <a:rPr lang="vi-VN" sz="1600" b="0" i="0" dirty="0">
                <a:solidFill>
                  <a:srgbClr val="5A6B7B"/>
                </a:solidFill>
                <a:latin typeface="Segoe UI"/>
                <a:cs typeface="Segoe UI"/>
              </a:rPr>
              <a:t>Khám phá khí hậu &amp; thời tiết cực đoan Việt Nam giai đoạn 2020–2025 bằng dashboard tương tác và trợ lý AI có kiểm soát.</a:t>
            </a:r>
          </a:p>
        </p:txBody>
      </p:sp>
      <p:sp>
        <p:nvSpPr>
          <p:cNvPr id="9" name="s"/>
          <p:cNvSpPr/>
          <p:nvPr/>
        </p:nvSpPr>
        <p:spPr>
          <a:xfrm>
            <a:off x="548640" y="4270248"/>
            <a:ext cx="109728" cy="109728"/>
          </a:xfrm>
          <a:prstGeom prst="ellipse">
            <a:avLst/>
          </a:prstGeom>
          <a:solidFill>
            <a:srgbClr val="0070C0"/>
          </a:solidFill>
          <a:ln>
            <a:noFill/>
          </a:ln>
        </p:spPr>
        <p:txBody>
          <a:bodyPr/>
          <a:lstStyle/>
          <a:p>
            <a:endParaRPr/>
          </a:p>
        </p:txBody>
      </p:sp>
      <p:sp>
        <p:nvSpPr>
          <p:cNvPr id="10" name="t"/>
          <p:cNvSpPr txBox="1"/>
          <p:nvPr/>
        </p:nvSpPr>
        <p:spPr>
          <a:xfrm>
            <a:off x="768096" y="4169664"/>
            <a:ext cx="5486400" cy="566928"/>
          </a:xfrm>
          <a:prstGeom prst="rect">
            <a:avLst/>
          </a:prstGeom>
          <a:noFill/>
        </p:spPr>
        <p:txBody>
          <a:bodyPr wrap="square" lIns="63500" tIns="38100" rIns="63500" bIns="38100" anchor="t">
            <a:normAutofit/>
          </a:bodyPr>
          <a:lstStyle/>
          <a:p>
            <a:pPr algn="l">
              <a:lnSpc>
                <a:spcPct val="100000"/>
              </a:lnSpc>
              <a:spcAft>
                <a:spcPts val="300"/>
              </a:spcAft>
            </a:pPr>
            <a:r>
              <a:rPr lang="vi-VN" sz="1500" b="1" i="0" dirty="0">
                <a:solidFill>
                  <a:srgbClr val="002B5C"/>
                </a:solidFill>
                <a:latin typeface="Segoe UI"/>
                <a:cs typeface="Segoe UI"/>
              </a:rPr>
              <a:t>Lê Lâm Trí Đức</a:t>
            </a:r>
          </a:p>
          <a:p>
            <a:pPr algn="l">
              <a:lnSpc>
                <a:spcPct val="100000"/>
              </a:lnSpc>
              <a:spcAft>
                <a:spcPts val="300"/>
              </a:spcAft>
            </a:pPr>
            <a:r>
              <a:rPr lang="vi-VN" sz="1150" b="0" i="0" dirty="0">
                <a:solidFill>
                  <a:srgbClr val="5A6B7B"/>
                </a:solidFill>
                <a:latin typeface="Segoe UI"/>
                <a:cs typeface="Segoe UI"/>
              </a:rPr>
              <a:t>23120237 · Nhóm trưởng — Frontend React &amp; ECharts</a:t>
            </a:r>
          </a:p>
        </p:txBody>
      </p:sp>
      <p:sp>
        <p:nvSpPr>
          <p:cNvPr id="11" name="s"/>
          <p:cNvSpPr/>
          <p:nvPr/>
        </p:nvSpPr>
        <p:spPr>
          <a:xfrm>
            <a:off x="6263640" y="4270248"/>
            <a:ext cx="109728" cy="109728"/>
          </a:xfrm>
          <a:prstGeom prst="ellipse">
            <a:avLst/>
          </a:prstGeom>
          <a:solidFill>
            <a:srgbClr val="0070C0"/>
          </a:solidFill>
          <a:ln>
            <a:noFill/>
          </a:ln>
        </p:spPr>
        <p:txBody>
          <a:bodyPr/>
          <a:lstStyle/>
          <a:p>
            <a:endParaRPr/>
          </a:p>
        </p:txBody>
      </p:sp>
      <p:sp>
        <p:nvSpPr>
          <p:cNvPr id="12" name="t"/>
          <p:cNvSpPr txBox="1"/>
          <p:nvPr/>
        </p:nvSpPr>
        <p:spPr>
          <a:xfrm>
            <a:off x="6483096" y="4169664"/>
            <a:ext cx="5486400" cy="566928"/>
          </a:xfrm>
          <a:prstGeom prst="rect">
            <a:avLst/>
          </a:prstGeom>
          <a:noFill/>
        </p:spPr>
        <p:txBody>
          <a:bodyPr wrap="square" lIns="63500" tIns="38100" rIns="63500" bIns="38100" anchor="t">
            <a:normAutofit/>
          </a:bodyPr>
          <a:lstStyle/>
          <a:p>
            <a:pPr algn="l">
              <a:lnSpc>
                <a:spcPct val="100000"/>
              </a:lnSpc>
              <a:spcAft>
                <a:spcPts val="300"/>
              </a:spcAft>
            </a:pPr>
            <a:r>
              <a:rPr lang="vi-VN" sz="1500" b="1" i="0" dirty="0">
                <a:solidFill>
                  <a:srgbClr val="002B5C"/>
                </a:solidFill>
                <a:latin typeface="Segoe UI"/>
                <a:cs typeface="Segoe UI"/>
              </a:rPr>
              <a:t>Hoàng Quốc Việt</a:t>
            </a:r>
          </a:p>
          <a:p>
            <a:pPr algn="l">
              <a:lnSpc>
                <a:spcPct val="100000"/>
              </a:lnSpc>
              <a:spcAft>
                <a:spcPts val="300"/>
              </a:spcAft>
            </a:pPr>
            <a:r>
              <a:rPr lang="vi-VN" sz="1150" b="0" i="0" dirty="0">
                <a:solidFill>
                  <a:srgbClr val="5A6B7B"/>
                </a:solidFill>
                <a:latin typeface="Segoe UI"/>
                <a:cs typeface="Segoe UI"/>
              </a:rPr>
              <a:t>23120189 · Data pipeline Python &amp; Open-Meteo</a:t>
            </a:r>
          </a:p>
        </p:txBody>
      </p:sp>
      <p:sp>
        <p:nvSpPr>
          <p:cNvPr id="13" name="s"/>
          <p:cNvSpPr/>
          <p:nvPr/>
        </p:nvSpPr>
        <p:spPr>
          <a:xfrm>
            <a:off x="548640" y="4956048"/>
            <a:ext cx="109728" cy="109728"/>
          </a:xfrm>
          <a:prstGeom prst="ellipse">
            <a:avLst/>
          </a:prstGeom>
          <a:solidFill>
            <a:srgbClr val="0070C0"/>
          </a:solidFill>
          <a:ln>
            <a:noFill/>
          </a:ln>
        </p:spPr>
        <p:txBody>
          <a:bodyPr/>
          <a:lstStyle/>
          <a:p>
            <a:endParaRPr/>
          </a:p>
        </p:txBody>
      </p:sp>
      <p:sp>
        <p:nvSpPr>
          <p:cNvPr id="14" name="t"/>
          <p:cNvSpPr txBox="1"/>
          <p:nvPr/>
        </p:nvSpPr>
        <p:spPr>
          <a:xfrm>
            <a:off x="768096" y="4855464"/>
            <a:ext cx="5486400" cy="566928"/>
          </a:xfrm>
          <a:prstGeom prst="rect">
            <a:avLst/>
          </a:prstGeom>
          <a:noFill/>
        </p:spPr>
        <p:txBody>
          <a:bodyPr wrap="square" lIns="63500" tIns="38100" rIns="63500" bIns="38100" anchor="t">
            <a:normAutofit/>
          </a:bodyPr>
          <a:lstStyle/>
          <a:p>
            <a:pPr algn="l">
              <a:lnSpc>
                <a:spcPct val="100000"/>
              </a:lnSpc>
              <a:spcAft>
                <a:spcPts val="300"/>
              </a:spcAft>
            </a:pPr>
            <a:r>
              <a:rPr lang="vi-VN" sz="1500" b="1" i="0" dirty="0">
                <a:solidFill>
                  <a:srgbClr val="002B5C"/>
                </a:solidFill>
                <a:latin typeface="Segoe UI"/>
                <a:cs typeface="Segoe UI"/>
              </a:rPr>
              <a:t>Nguyễn Lê Thế Vinh</a:t>
            </a:r>
          </a:p>
          <a:p>
            <a:pPr algn="l">
              <a:lnSpc>
                <a:spcPct val="100000"/>
              </a:lnSpc>
              <a:spcAft>
                <a:spcPts val="300"/>
              </a:spcAft>
            </a:pPr>
            <a:r>
              <a:rPr lang="vi-VN" sz="1150" b="0" i="0" dirty="0">
                <a:solidFill>
                  <a:srgbClr val="5A6B7B"/>
                </a:solidFill>
                <a:latin typeface="Segoe UI"/>
                <a:cs typeface="Segoe UI"/>
              </a:rPr>
              <a:t>23120190 · Backend FastAPI &amp; DuckDB</a:t>
            </a:r>
          </a:p>
        </p:txBody>
      </p:sp>
      <p:sp>
        <p:nvSpPr>
          <p:cNvPr id="15" name="s"/>
          <p:cNvSpPr/>
          <p:nvPr/>
        </p:nvSpPr>
        <p:spPr>
          <a:xfrm>
            <a:off x="6263640" y="4956048"/>
            <a:ext cx="109728" cy="109728"/>
          </a:xfrm>
          <a:prstGeom prst="ellipse">
            <a:avLst/>
          </a:prstGeom>
          <a:solidFill>
            <a:srgbClr val="0070C0"/>
          </a:solidFill>
          <a:ln>
            <a:noFill/>
          </a:ln>
        </p:spPr>
        <p:txBody>
          <a:bodyPr/>
          <a:lstStyle/>
          <a:p>
            <a:endParaRPr/>
          </a:p>
        </p:txBody>
      </p:sp>
      <p:sp>
        <p:nvSpPr>
          <p:cNvPr id="16" name="t"/>
          <p:cNvSpPr txBox="1"/>
          <p:nvPr/>
        </p:nvSpPr>
        <p:spPr>
          <a:xfrm>
            <a:off x="6483096" y="4855464"/>
            <a:ext cx="5486400" cy="566928"/>
          </a:xfrm>
          <a:prstGeom prst="rect">
            <a:avLst/>
          </a:prstGeom>
          <a:noFill/>
        </p:spPr>
        <p:txBody>
          <a:bodyPr wrap="square" lIns="63500" tIns="38100" rIns="63500" bIns="38100" anchor="t">
            <a:normAutofit/>
          </a:bodyPr>
          <a:lstStyle/>
          <a:p>
            <a:pPr algn="l">
              <a:lnSpc>
                <a:spcPct val="100000"/>
              </a:lnSpc>
              <a:spcAft>
                <a:spcPts val="300"/>
              </a:spcAft>
            </a:pPr>
            <a:r>
              <a:rPr lang="vi-VN" sz="1500" b="1" i="0" dirty="0">
                <a:solidFill>
                  <a:srgbClr val="002B5C"/>
                </a:solidFill>
                <a:latin typeface="Segoe UI"/>
                <a:cs typeface="Segoe UI"/>
              </a:rPr>
              <a:t>Phạm Quang Vinh</a:t>
            </a:r>
          </a:p>
          <a:p>
            <a:pPr algn="l">
              <a:lnSpc>
                <a:spcPct val="100000"/>
              </a:lnSpc>
              <a:spcAft>
                <a:spcPts val="300"/>
              </a:spcAft>
            </a:pPr>
            <a:r>
              <a:rPr lang="vi-VN" sz="1150" b="0" i="0" dirty="0">
                <a:solidFill>
                  <a:srgbClr val="5A6B7B"/>
                </a:solidFill>
                <a:latin typeface="Segoe UI"/>
                <a:cs typeface="Segoe UI"/>
              </a:rPr>
              <a:t>23120202 · AI Analyst, SQL Guard &amp; Kiểm thử</a:t>
            </a:r>
          </a:p>
        </p:txBody>
      </p:sp>
      <p:sp>
        <p:nvSpPr>
          <p:cNvPr id="17" name="t"/>
          <p:cNvSpPr txBox="1"/>
          <p:nvPr/>
        </p:nvSpPr>
        <p:spPr>
          <a:xfrm>
            <a:off x="548640" y="5669280"/>
            <a:ext cx="10058400" cy="365760"/>
          </a:xfrm>
          <a:prstGeom prst="rect">
            <a:avLst/>
          </a:prstGeom>
          <a:noFill/>
        </p:spPr>
        <p:txBody>
          <a:bodyPr wrap="square" lIns="63500" tIns="38100" rIns="63500" bIns="38100" anchor="t">
            <a:normAutofit/>
          </a:bodyPr>
          <a:lstStyle/>
          <a:p>
            <a:pPr algn="l">
              <a:lnSpc>
                <a:spcPct val="100000"/>
              </a:lnSpc>
              <a:spcAft>
                <a:spcPts val="300"/>
              </a:spcAft>
            </a:pPr>
            <a:r>
              <a:rPr lang="vi-VN" sz="1300" b="0" i="0" dirty="0">
                <a:solidFill>
                  <a:srgbClr val="5A6B7B"/>
                </a:solidFill>
                <a:latin typeface="Segoe UI"/>
                <a:cs typeface="Segoe UI"/>
              </a:rPr>
              <a:t>GVHD: </a:t>
            </a:r>
            <a:r>
              <a:rPr lang="vi-VN" sz="1300" b="1" i="0" dirty="0">
                <a:solidFill>
                  <a:srgbClr val="002B5C"/>
                </a:solidFill>
                <a:latin typeface="Segoe UI"/>
                <a:cs typeface="Segoe UI"/>
              </a:rPr>
              <a:t>Bùi Tiến Lên</a:t>
            </a:r>
            <a:r>
              <a:rPr lang="vi-VN" sz="1300" b="0" i="0" dirty="0">
                <a:solidFill>
                  <a:srgbClr val="5A6B7B"/>
                </a:solidFill>
                <a:latin typeface="Segoe UI"/>
                <a:cs typeface="Segoe UI"/>
              </a:rPr>
              <a:t>     ·     Tháng </a:t>
            </a:r>
            <a:r>
              <a:rPr lang="vi-VN" sz="1300" b="0" i="0" dirty="0" smtClean="0">
                <a:solidFill>
                  <a:srgbClr val="5A6B7B"/>
                </a:solidFill>
                <a:latin typeface="Segoe UI"/>
                <a:cs typeface="Segoe UI"/>
              </a:rPr>
              <a:t>0</a:t>
            </a:r>
            <a:r>
              <a:rPr lang="en-US" sz="1300" b="0" i="0" dirty="0" smtClean="0">
                <a:solidFill>
                  <a:srgbClr val="5A6B7B"/>
                </a:solidFill>
                <a:latin typeface="Segoe UI"/>
                <a:cs typeface="Segoe UI"/>
              </a:rPr>
              <a:t>7</a:t>
            </a:r>
            <a:r>
              <a:rPr lang="vi-VN" sz="1300" b="0" i="0" dirty="0" smtClean="0">
                <a:solidFill>
                  <a:srgbClr val="5A6B7B"/>
                </a:solidFill>
                <a:latin typeface="Segoe UI"/>
                <a:cs typeface="Segoe UI"/>
              </a:rPr>
              <a:t>, </a:t>
            </a:r>
            <a:r>
              <a:rPr lang="vi-VN" sz="1300" b="0" i="0" dirty="0">
                <a:solidFill>
                  <a:srgbClr val="5A6B7B"/>
                </a:solidFill>
                <a:latin typeface="Segoe UI"/>
                <a:cs typeface="Segoe UI"/>
              </a:rPr>
              <a:t>năm 2026</a:t>
            </a:r>
          </a:p>
        </p:txBody>
      </p:sp>
      <p:sp>
        <p:nvSpPr>
          <p:cNvPr id="18" name="s"/>
          <p:cNvSpPr/>
          <p:nvPr/>
        </p:nvSpPr>
        <p:spPr>
          <a:xfrm>
            <a:off x="9921240" y="411480"/>
            <a:ext cx="1828800" cy="1828800"/>
          </a:xfrm>
          <a:prstGeom prst="ellipse">
            <a:avLst/>
          </a:prstGeom>
          <a:solidFill>
            <a:srgbClr val="E8F3FC"/>
          </a:solidFill>
          <a:ln w="12700">
            <a:solidFill>
              <a:srgbClr val="D7E3EF"/>
            </a:solidFill>
          </a:ln>
        </p:spPr>
        <p:txBody>
          <a:bodyPr/>
          <a:lstStyle/>
          <a:p>
            <a:endParaRPr/>
          </a:p>
        </p:txBody>
      </p:sp>
      <p:sp>
        <p:nvSpPr>
          <p:cNvPr id="19" name="s"/>
          <p:cNvSpPr/>
          <p:nvPr/>
        </p:nvSpPr>
        <p:spPr>
          <a:xfrm>
            <a:off x="10405872" y="548640"/>
            <a:ext cx="749808" cy="749808"/>
          </a:xfrm>
          <a:prstGeom prst="sun">
            <a:avLst/>
          </a:prstGeom>
          <a:solidFill>
            <a:srgbClr val="F6B23D"/>
          </a:solidFill>
          <a:ln>
            <a:noFill/>
          </a:ln>
        </p:spPr>
        <p:txBody>
          <a:bodyPr/>
          <a:lstStyle/>
          <a:p>
            <a:endParaRPr/>
          </a:p>
        </p:txBody>
      </p:sp>
      <p:sp>
        <p:nvSpPr>
          <p:cNvPr id="20" name="s"/>
          <p:cNvSpPr/>
          <p:nvPr/>
        </p:nvSpPr>
        <p:spPr>
          <a:xfrm>
            <a:off x="10012680" y="932688"/>
            <a:ext cx="1417320" cy="822960"/>
          </a:xfrm>
          <a:prstGeom prst="cloud">
            <a:avLst/>
          </a:prstGeom>
          <a:solidFill>
            <a:srgbClr val="FFFFFF"/>
          </a:solidFill>
          <a:ln w="12700">
            <a:solidFill>
              <a:srgbClr val="D7E3EF"/>
            </a:solidFill>
          </a:ln>
        </p:spPr>
        <p:txBody>
          <a:bodyPr/>
          <a:lstStyle/>
          <a:p>
            <a:endParaRPr/>
          </a:p>
        </p:txBody>
      </p:sp>
      <p:sp>
        <p:nvSpPr>
          <p:cNvPr id="21" name="s"/>
          <p:cNvSpPr/>
          <p:nvPr/>
        </p:nvSpPr>
        <p:spPr>
          <a:xfrm rot="1200000">
            <a:off x="10442448" y="1810512"/>
            <a:ext cx="45720" cy="274320"/>
          </a:xfrm>
          <a:prstGeom prst="roundRect">
            <a:avLst/>
          </a:prstGeom>
          <a:solidFill>
            <a:srgbClr val="0070C0"/>
          </a:solidFill>
          <a:ln>
            <a:noFill/>
          </a:ln>
        </p:spPr>
        <p:txBody>
          <a:bodyPr/>
          <a:lstStyle/>
          <a:p>
            <a:endParaRPr/>
          </a:p>
        </p:txBody>
      </p:sp>
      <p:sp>
        <p:nvSpPr>
          <p:cNvPr id="22" name="s"/>
          <p:cNvSpPr/>
          <p:nvPr/>
        </p:nvSpPr>
        <p:spPr>
          <a:xfrm rot="1200000">
            <a:off x="10771632" y="1810512"/>
            <a:ext cx="45720" cy="274320"/>
          </a:xfrm>
          <a:prstGeom prst="roundRect">
            <a:avLst/>
          </a:prstGeom>
          <a:solidFill>
            <a:srgbClr val="0070C0"/>
          </a:solidFill>
          <a:ln>
            <a:noFill/>
          </a:ln>
        </p:spPr>
        <p:txBody>
          <a:bodyPr/>
          <a:lstStyle/>
          <a:p>
            <a:endParaRPr/>
          </a:p>
        </p:txBody>
      </p:sp>
      <p:sp>
        <p:nvSpPr>
          <p:cNvPr id="23" name="s"/>
          <p:cNvSpPr/>
          <p:nvPr/>
        </p:nvSpPr>
        <p:spPr>
          <a:xfrm rot="1200000">
            <a:off x="11100816" y="1810512"/>
            <a:ext cx="45720" cy="274320"/>
          </a:xfrm>
          <a:prstGeom prst="roundRect">
            <a:avLst/>
          </a:prstGeom>
          <a:solidFill>
            <a:srgbClr val="0070C0"/>
          </a:solidFill>
          <a:ln>
            <a:noFill/>
          </a:ln>
        </p:spPr>
        <p:txBody>
          <a:bodyPr/>
          <a:lstStyle/>
          <a:p>
            <a:endParaRPr/>
          </a:p>
        </p:txBody>
      </p:sp>
      <p:sp>
        <p:nvSpPr>
          <p:cNvPr id="24" name="s"/>
          <p:cNvSpPr/>
          <p:nvPr/>
        </p:nvSpPr>
        <p:spPr>
          <a:xfrm>
            <a:off x="548640" y="6327648"/>
            <a:ext cx="11091672" cy="12802"/>
          </a:xfrm>
          <a:prstGeom prst="rect">
            <a:avLst/>
          </a:prstGeom>
          <a:solidFill>
            <a:srgbClr val="D7E3EF"/>
          </a:solidFill>
          <a:ln>
            <a:noFill/>
          </a:ln>
        </p:spPr>
        <p:txBody>
          <a:bodyPr/>
          <a:lstStyle/>
          <a:p>
            <a:endParaRPr/>
          </a:p>
        </p:txBody>
      </p:sp>
      <p:sp>
        <p:nvSpPr>
          <p:cNvPr id="25" name="t"/>
          <p:cNvSpPr txBox="1"/>
          <p:nvPr/>
        </p:nvSpPr>
        <p:spPr>
          <a:xfrm>
            <a:off x="548640" y="6373368"/>
            <a:ext cx="8229600" cy="320040"/>
          </a:xfrm>
          <a:prstGeom prst="rect">
            <a:avLst/>
          </a:prstGeom>
          <a:noFill/>
        </p:spPr>
        <p:txBody>
          <a:bodyPr wrap="square" lIns="63500" tIns="38100" rIns="63500" bIns="38100" anchor="ctr">
            <a:normAutofit/>
          </a:bodyPr>
          <a:lstStyle/>
          <a:p>
            <a:pPr algn="l">
              <a:lnSpc>
                <a:spcPct val="100000"/>
              </a:lnSpc>
              <a:spcAft>
                <a:spcPts val="300"/>
              </a:spcAft>
            </a:pPr>
            <a:r>
              <a:rPr lang="vi-VN" sz="1200" b="1" i="0" dirty="0">
                <a:solidFill>
                  <a:srgbClr val="005BA1"/>
                </a:solidFill>
                <a:latin typeface="Segoe UI"/>
                <a:cs typeface="Segoe UI"/>
              </a:rPr>
              <a:t>Vietnam Climate Pulse</a:t>
            </a:r>
          </a:p>
        </p:txBody>
      </p:sp>
      <p:sp>
        <p:nvSpPr>
          <p:cNvPr id="26" name="t"/>
          <p:cNvSpPr txBox="1"/>
          <p:nvPr/>
        </p:nvSpPr>
        <p:spPr>
          <a:xfrm>
            <a:off x="10515600" y="6373368"/>
            <a:ext cx="1124712" cy="320040"/>
          </a:xfrm>
          <a:prstGeom prst="rect">
            <a:avLst/>
          </a:prstGeom>
          <a:noFill/>
        </p:spPr>
        <p:txBody>
          <a:bodyPr wrap="square" lIns="63500" tIns="38100" rIns="63500" bIns="38100" anchor="ctr">
            <a:normAutofit/>
          </a:bodyPr>
          <a:lstStyle/>
          <a:p>
            <a:pPr algn="r">
              <a:lnSpc>
                <a:spcPct val="100000"/>
              </a:lnSpc>
              <a:spcAft>
                <a:spcPts val="300"/>
              </a:spcAft>
            </a:pPr>
            <a:r>
              <a:rPr lang="vi-VN" sz="1300" b="1" i="0" dirty="0">
                <a:solidFill>
                  <a:srgbClr val="002B5C"/>
                </a:solidFill>
                <a:latin typeface="Segoe UI"/>
                <a:cs typeface="Segoe UI"/>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
          <p:cNvSpPr/>
          <p:nvPr/>
        </p:nvSpPr>
        <p:spPr>
          <a:xfrm>
            <a:off x="0" y="0"/>
            <a:ext cx="12191695" cy="100584"/>
          </a:xfrm>
          <a:prstGeom prst="rect">
            <a:avLst/>
          </a:prstGeom>
          <a:solidFill>
            <a:srgbClr val="0070C0"/>
          </a:solidFill>
          <a:ln>
            <a:noFill/>
          </a:ln>
        </p:spPr>
        <p:txBody>
          <a:bodyPr/>
          <a:lstStyle/>
          <a:p>
            <a:endParaRPr/>
          </a:p>
        </p:txBody>
      </p:sp>
      <p:sp>
        <p:nvSpPr>
          <p:cNvPr id="28" name="t"/>
          <p:cNvSpPr txBox="1"/>
          <p:nvPr/>
        </p:nvSpPr>
        <p:spPr>
          <a:xfrm>
            <a:off x="548640" y="384048"/>
            <a:ext cx="10058400" cy="274320"/>
          </a:xfrm>
          <a:prstGeom prst="rect">
            <a:avLst/>
          </a:prstGeom>
          <a:noFill/>
        </p:spPr>
        <p:txBody>
          <a:bodyPr wrap="square" lIns="63500" tIns="38100" rIns="63500" bIns="38100" anchor="t">
            <a:normAutofit/>
          </a:bodyPr>
          <a:lstStyle/>
          <a:p>
            <a:pPr algn="l">
              <a:lnSpc>
                <a:spcPct val="100000"/>
              </a:lnSpc>
              <a:spcAft>
                <a:spcPts val="300"/>
              </a:spcAft>
            </a:pPr>
            <a:r>
              <a:rPr lang="vi-VN" sz="1150" b="1" i="0" dirty="0">
                <a:solidFill>
                  <a:srgbClr val="0070C0"/>
                </a:solidFill>
                <a:latin typeface="Segoe UI"/>
                <a:cs typeface="Segoe UI"/>
              </a:rPr>
              <a:t>BỐI CẢNH &amp; MỤC TIÊU</a:t>
            </a:r>
          </a:p>
        </p:txBody>
      </p:sp>
      <p:sp>
        <p:nvSpPr>
          <p:cNvPr id="29" name="t"/>
          <p:cNvSpPr txBox="1"/>
          <p:nvPr/>
        </p:nvSpPr>
        <p:spPr>
          <a:xfrm>
            <a:off x="548640" y="658368"/>
            <a:ext cx="10972800" cy="640080"/>
          </a:xfrm>
          <a:prstGeom prst="rect">
            <a:avLst/>
          </a:prstGeom>
          <a:noFill/>
        </p:spPr>
        <p:txBody>
          <a:bodyPr wrap="square" lIns="63500" tIns="38100" rIns="63500" bIns="38100" anchor="t">
            <a:normAutofit/>
          </a:bodyPr>
          <a:lstStyle/>
          <a:p>
            <a:pPr algn="l">
              <a:lnSpc>
                <a:spcPct val="100000"/>
              </a:lnSpc>
              <a:spcAft>
                <a:spcPts val="300"/>
              </a:spcAft>
            </a:pPr>
            <a:r>
              <a:rPr lang="vi-VN" sz="2500" b="1" i="0" dirty="0">
                <a:solidFill>
                  <a:srgbClr val="002B5C"/>
                </a:solidFill>
                <a:latin typeface="Segoe UI"/>
                <a:cs typeface="Segoe UI"/>
              </a:rPr>
              <a:t>Vì sao cần một “mạch đập khí hậu”?</a:t>
            </a:r>
          </a:p>
        </p:txBody>
      </p:sp>
      <p:sp>
        <p:nvSpPr>
          <p:cNvPr id="30" name="s"/>
          <p:cNvSpPr/>
          <p:nvPr/>
        </p:nvSpPr>
        <p:spPr>
          <a:xfrm>
            <a:off x="566928" y="1298448"/>
            <a:ext cx="822960" cy="45720"/>
          </a:xfrm>
          <a:prstGeom prst="rect">
            <a:avLst/>
          </a:prstGeom>
          <a:solidFill>
            <a:srgbClr val="0070C0"/>
          </a:solidFill>
          <a:ln>
            <a:noFill/>
          </a:ln>
        </p:spPr>
        <p:txBody>
          <a:bodyPr/>
          <a:lstStyle/>
          <a:p>
            <a:endParaRPr/>
          </a:p>
        </p:txBody>
      </p:sp>
      <p:sp>
        <p:nvSpPr>
          <p:cNvPr id="31" name="t"/>
          <p:cNvSpPr txBox="1"/>
          <p:nvPr/>
        </p:nvSpPr>
        <p:spPr>
          <a:xfrm>
            <a:off x="548640" y="1554480"/>
            <a:ext cx="5486400" cy="1143000"/>
          </a:xfrm>
          <a:prstGeom prst="rect">
            <a:avLst/>
          </a:prstGeom>
          <a:noFill/>
        </p:spPr>
        <p:txBody>
          <a:bodyPr wrap="square" lIns="63500" tIns="38100" rIns="63500" bIns="38100" anchor="t">
            <a:normAutofit/>
          </a:bodyPr>
          <a:lstStyle/>
          <a:p>
            <a:pPr algn="l">
              <a:lnSpc>
                <a:spcPct val="120000"/>
              </a:lnSpc>
              <a:spcAft>
                <a:spcPts val="300"/>
              </a:spcAft>
            </a:pPr>
            <a:r>
              <a:rPr lang="vi-VN" sz="1500" b="0" i="0" dirty="0">
                <a:solidFill>
                  <a:srgbClr val="12263A"/>
                </a:solidFill>
                <a:latin typeface="Segoe UI"/>
                <a:cs typeface="Segoe UI"/>
              </a:rPr>
              <a:t>Việt Nam là một trong những quốc gia chịu ảnh hưởng nặng nề nhất của biến đổi khí hậu. Dữ liệu khí tượng thô lại phức tạp, phân tán, khó tiếp cận với sinh viên và cộng đồng.</a:t>
            </a:r>
          </a:p>
        </p:txBody>
      </p:sp>
      <p:sp>
        <p:nvSpPr>
          <p:cNvPr id="32" name="s"/>
          <p:cNvSpPr/>
          <p:nvPr/>
        </p:nvSpPr>
        <p:spPr>
          <a:xfrm>
            <a:off x="548640" y="2788920"/>
            <a:ext cx="5486400" cy="1051560"/>
          </a:xfrm>
          <a:prstGeom prst="roundRect">
            <a:avLst/>
          </a:prstGeom>
          <a:solidFill>
            <a:srgbClr val="E8F3FC"/>
          </a:solidFill>
          <a:ln>
            <a:noFill/>
          </a:ln>
        </p:spPr>
        <p:txBody>
          <a:bodyPr/>
          <a:lstStyle/>
          <a:p>
            <a:endParaRPr/>
          </a:p>
        </p:txBody>
      </p:sp>
      <p:sp>
        <p:nvSpPr>
          <p:cNvPr id="33" name="s"/>
          <p:cNvSpPr/>
          <p:nvPr/>
        </p:nvSpPr>
        <p:spPr>
          <a:xfrm>
            <a:off x="548640" y="2788920"/>
            <a:ext cx="73152" cy="1051560"/>
          </a:xfrm>
          <a:prstGeom prst="rect">
            <a:avLst/>
          </a:prstGeom>
          <a:solidFill>
            <a:srgbClr val="0070C0"/>
          </a:solidFill>
          <a:ln>
            <a:noFill/>
          </a:ln>
        </p:spPr>
        <p:txBody>
          <a:bodyPr/>
          <a:lstStyle/>
          <a:p>
            <a:endParaRPr/>
          </a:p>
        </p:txBody>
      </p:sp>
      <p:sp>
        <p:nvSpPr>
          <p:cNvPr id="34" name="t"/>
          <p:cNvSpPr txBox="1"/>
          <p:nvPr/>
        </p:nvSpPr>
        <p:spPr>
          <a:xfrm>
            <a:off x="777240" y="2889504"/>
            <a:ext cx="5120640" cy="868680"/>
          </a:xfrm>
          <a:prstGeom prst="rect">
            <a:avLst/>
          </a:prstGeom>
          <a:noFill/>
        </p:spPr>
        <p:txBody>
          <a:bodyPr wrap="square" lIns="63500" tIns="38100" rIns="63500" bIns="38100" anchor="t">
            <a:normAutofit/>
          </a:bodyPr>
          <a:lstStyle/>
          <a:p>
            <a:pPr algn="l">
              <a:lnSpc>
                <a:spcPct val="115000"/>
              </a:lnSpc>
              <a:spcAft>
                <a:spcPts val="300"/>
              </a:spcAft>
            </a:pPr>
            <a:r>
              <a:rPr lang="vi-VN" sz="1400" b="0" i="0" dirty="0">
                <a:solidFill>
                  <a:srgbClr val="005BA1"/>
                </a:solidFill>
                <a:latin typeface="Segoe UI"/>
                <a:cs typeface="Segoe UI"/>
              </a:rPr>
              <a:t>Mục tiêu: biến dữ liệu số thô thành tri thức khí hậu dễ hiểu qua dashboard tương tác cục bộ, tích hợp trợ lý AI phân tích bằng ngôn ngữ tự nhiên.</a:t>
            </a:r>
          </a:p>
        </p:txBody>
      </p:sp>
      <p:sp>
        <p:nvSpPr>
          <p:cNvPr id="35" name="t"/>
          <p:cNvSpPr txBox="1"/>
          <p:nvPr/>
        </p:nvSpPr>
        <p:spPr>
          <a:xfrm>
            <a:off x="548640" y="4023360"/>
            <a:ext cx="5486400" cy="822960"/>
          </a:xfrm>
          <a:prstGeom prst="rect">
            <a:avLst/>
          </a:prstGeom>
          <a:noFill/>
        </p:spPr>
        <p:txBody>
          <a:bodyPr wrap="square" lIns="63500" tIns="38100" rIns="63500" bIns="38100" anchor="t">
            <a:normAutofit/>
          </a:bodyPr>
          <a:lstStyle/>
          <a:p>
            <a:pPr algn="l">
              <a:lnSpc>
                <a:spcPct val="115000"/>
              </a:lnSpc>
              <a:spcAft>
                <a:spcPts val="300"/>
              </a:spcAft>
            </a:pPr>
            <a:r>
              <a:rPr lang="vi-VN" sz="1400" b="1" i="0" dirty="0">
                <a:solidFill>
                  <a:srgbClr val="002B5C"/>
                </a:solidFill>
                <a:latin typeface="Segoe UI"/>
                <a:cs typeface="Segoe UI"/>
              </a:rPr>
              <a:t>Đối tượng: </a:t>
            </a:r>
            <a:r>
              <a:rPr lang="vi-VN" sz="1400" b="0" i="0" dirty="0">
                <a:solidFill>
                  <a:srgbClr val="5A6B7B"/>
                </a:solidFill>
                <a:latin typeface="Segoe UI"/>
                <a:cs typeface="Segoe UI"/>
              </a:rPr>
              <a:t>HS–SV địa lý &amp; môi trường · tuyên truyền viên biến đổi khí hậu · cộng đồng quan tâm thời tiết địa phương.</a:t>
            </a:r>
          </a:p>
        </p:txBody>
      </p:sp>
      <p:sp>
        <p:nvSpPr>
          <p:cNvPr id="36" name="t"/>
          <p:cNvSpPr txBox="1"/>
          <p:nvPr/>
        </p:nvSpPr>
        <p:spPr>
          <a:xfrm>
            <a:off x="6400800" y="1481328"/>
            <a:ext cx="5212080" cy="365760"/>
          </a:xfrm>
          <a:prstGeom prst="rect">
            <a:avLst/>
          </a:prstGeom>
          <a:noFill/>
        </p:spPr>
        <p:txBody>
          <a:bodyPr wrap="square" lIns="63500" tIns="38100" rIns="63500" bIns="38100" anchor="t">
            <a:normAutofit/>
          </a:bodyPr>
          <a:lstStyle/>
          <a:p>
            <a:pPr algn="l">
              <a:lnSpc>
                <a:spcPct val="100000"/>
              </a:lnSpc>
              <a:spcAft>
                <a:spcPts val="300"/>
              </a:spcAft>
            </a:pPr>
            <a:r>
              <a:rPr lang="vi-VN" sz="1600" b="1" i="0" dirty="0">
                <a:solidFill>
                  <a:srgbClr val="005BA1"/>
                </a:solidFill>
                <a:latin typeface="Segoe UI"/>
                <a:cs typeface="Segoe UI"/>
              </a:rPr>
              <a:t>4 câu hỏi phân tích cốt lõi</a:t>
            </a:r>
          </a:p>
        </p:txBody>
      </p:sp>
      <p:sp>
        <p:nvSpPr>
          <p:cNvPr id="37" name="s"/>
          <p:cNvSpPr/>
          <p:nvPr/>
        </p:nvSpPr>
        <p:spPr>
          <a:xfrm>
            <a:off x="6400800" y="1874520"/>
            <a:ext cx="2606040" cy="1371600"/>
          </a:xfrm>
          <a:prstGeom prst="roundRect">
            <a:avLst/>
          </a:prstGeom>
          <a:solidFill>
            <a:srgbClr val="FFFFFF"/>
          </a:solidFill>
          <a:ln w="12700">
            <a:solidFill>
              <a:srgbClr val="D7E3EF"/>
            </a:solidFill>
          </a:ln>
        </p:spPr>
        <p:txBody>
          <a:bodyPr/>
          <a:lstStyle/>
          <a:p>
            <a:endParaRPr/>
          </a:p>
        </p:txBody>
      </p:sp>
      <p:sp>
        <p:nvSpPr>
          <p:cNvPr id="38" name="t"/>
          <p:cNvSpPr txBox="1"/>
          <p:nvPr/>
        </p:nvSpPr>
        <p:spPr>
          <a:xfrm>
            <a:off x="6565392" y="2002536"/>
            <a:ext cx="2276856" cy="365760"/>
          </a:xfrm>
          <a:prstGeom prst="rect">
            <a:avLst/>
          </a:prstGeom>
          <a:noFill/>
        </p:spPr>
        <p:txBody>
          <a:bodyPr wrap="square" lIns="63500" tIns="38100" rIns="63500" bIns="38100" anchor="t">
            <a:normAutofit/>
          </a:bodyPr>
          <a:lstStyle/>
          <a:p>
            <a:pPr algn="l">
              <a:lnSpc>
                <a:spcPct val="100000"/>
              </a:lnSpc>
              <a:spcAft>
                <a:spcPts val="300"/>
              </a:spcAft>
            </a:pPr>
            <a:r>
              <a:rPr lang="vi-VN" sz="1500" b="1" i="0" dirty="0">
                <a:solidFill>
                  <a:srgbClr val="005BA1"/>
                </a:solidFill>
                <a:latin typeface="Segoe UI"/>
                <a:cs typeface="Segoe UI"/>
              </a:rPr>
              <a:t>① Địa lý</a:t>
            </a:r>
          </a:p>
        </p:txBody>
      </p:sp>
      <p:sp>
        <p:nvSpPr>
          <p:cNvPr id="39" name="t"/>
          <p:cNvSpPr txBox="1"/>
          <p:nvPr/>
        </p:nvSpPr>
        <p:spPr>
          <a:xfrm>
            <a:off x="6565392" y="2423160"/>
            <a:ext cx="2276856" cy="731520"/>
          </a:xfrm>
          <a:prstGeom prst="rect">
            <a:avLst/>
          </a:prstGeom>
          <a:noFill/>
        </p:spPr>
        <p:txBody>
          <a:bodyPr wrap="square" lIns="63500" tIns="38100" rIns="63500" bIns="38100" anchor="t">
            <a:normAutofit/>
          </a:bodyPr>
          <a:lstStyle/>
          <a:p>
            <a:pPr algn="l">
              <a:lnSpc>
                <a:spcPct val="108000"/>
              </a:lnSpc>
              <a:spcAft>
                <a:spcPts val="300"/>
              </a:spcAft>
            </a:pPr>
            <a:r>
              <a:rPr lang="vi-VN" sz="1250" b="0" i="0" dirty="0">
                <a:solidFill>
                  <a:srgbClr val="5A6B7B"/>
                </a:solidFill>
                <a:latin typeface="Segoe UI"/>
                <a:cs typeface="Segoe UI"/>
              </a:rPr>
              <a:t>Miền nào nền nhiệt cao nhất? Khác biệt Bắc–Trung–Nam ra sao?</a:t>
            </a:r>
          </a:p>
        </p:txBody>
      </p:sp>
      <p:sp>
        <p:nvSpPr>
          <p:cNvPr id="40" name="s"/>
          <p:cNvSpPr/>
          <p:nvPr/>
        </p:nvSpPr>
        <p:spPr>
          <a:xfrm>
            <a:off x="9144000" y="1874520"/>
            <a:ext cx="2606040" cy="1371600"/>
          </a:xfrm>
          <a:prstGeom prst="roundRect">
            <a:avLst/>
          </a:prstGeom>
          <a:solidFill>
            <a:srgbClr val="FFFFFF"/>
          </a:solidFill>
          <a:ln w="12700">
            <a:solidFill>
              <a:srgbClr val="D7E3EF"/>
            </a:solidFill>
          </a:ln>
        </p:spPr>
        <p:txBody>
          <a:bodyPr/>
          <a:lstStyle/>
          <a:p>
            <a:endParaRPr/>
          </a:p>
        </p:txBody>
      </p:sp>
      <p:sp>
        <p:nvSpPr>
          <p:cNvPr id="41" name="t"/>
          <p:cNvSpPr txBox="1"/>
          <p:nvPr/>
        </p:nvSpPr>
        <p:spPr>
          <a:xfrm>
            <a:off x="9308592" y="2002536"/>
            <a:ext cx="2276856" cy="365760"/>
          </a:xfrm>
          <a:prstGeom prst="rect">
            <a:avLst/>
          </a:prstGeom>
          <a:noFill/>
        </p:spPr>
        <p:txBody>
          <a:bodyPr wrap="square" lIns="63500" tIns="38100" rIns="63500" bIns="38100" anchor="t">
            <a:normAutofit/>
          </a:bodyPr>
          <a:lstStyle/>
          <a:p>
            <a:pPr algn="l">
              <a:lnSpc>
                <a:spcPct val="100000"/>
              </a:lnSpc>
              <a:spcAft>
                <a:spcPts val="300"/>
              </a:spcAft>
            </a:pPr>
            <a:r>
              <a:rPr lang="vi-VN" sz="1500" b="1" i="0" dirty="0">
                <a:solidFill>
                  <a:srgbClr val="005BA1"/>
                </a:solidFill>
                <a:latin typeface="Segoe UI"/>
                <a:cs typeface="Segoe UI"/>
              </a:rPr>
              <a:t>② Xu hướng</a:t>
            </a:r>
          </a:p>
        </p:txBody>
      </p:sp>
      <p:sp>
        <p:nvSpPr>
          <p:cNvPr id="42" name="t"/>
          <p:cNvSpPr txBox="1"/>
          <p:nvPr/>
        </p:nvSpPr>
        <p:spPr>
          <a:xfrm>
            <a:off x="9308592" y="2423160"/>
            <a:ext cx="2276856" cy="731520"/>
          </a:xfrm>
          <a:prstGeom prst="rect">
            <a:avLst/>
          </a:prstGeom>
          <a:noFill/>
        </p:spPr>
        <p:txBody>
          <a:bodyPr wrap="square" lIns="63500" tIns="38100" rIns="63500" bIns="38100" anchor="t">
            <a:normAutofit/>
          </a:bodyPr>
          <a:lstStyle/>
          <a:p>
            <a:pPr algn="l">
              <a:lnSpc>
                <a:spcPct val="108000"/>
              </a:lnSpc>
              <a:spcAft>
                <a:spcPts val="300"/>
              </a:spcAft>
            </a:pPr>
            <a:r>
              <a:rPr lang="vi-VN" sz="1250" b="0" i="0" dirty="0">
                <a:solidFill>
                  <a:srgbClr val="5A6B7B"/>
                </a:solidFill>
                <a:latin typeface="Segoe UI"/>
                <a:cs typeface="Segoe UI"/>
              </a:rPr>
              <a:t>Mùa mưa miền Trung lệch pha thế nào? Có dấu hiệu nóng lên?</a:t>
            </a:r>
          </a:p>
        </p:txBody>
      </p:sp>
      <p:sp>
        <p:nvSpPr>
          <p:cNvPr id="43" name="s"/>
          <p:cNvSpPr/>
          <p:nvPr/>
        </p:nvSpPr>
        <p:spPr>
          <a:xfrm>
            <a:off x="6400800" y="3383280"/>
            <a:ext cx="2606040" cy="1371600"/>
          </a:xfrm>
          <a:prstGeom prst="roundRect">
            <a:avLst/>
          </a:prstGeom>
          <a:solidFill>
            <a:srgbClr val="FFFFFF"/>
          </a:solidFill>
          <a:ln w="12700">
            <a:solidFill>
              <a:srgbClr val="D7E3EF"/>
            </a:solidFill>
          </a:ln>
        </p:spPr>
        <p:txBody>
          <a:bodyPr/>
          <a:lstStyle/>
          <a:p>
            <a:endParaRPr/>
          </a:p>
        </p:txBody>
      </p:sp>
      <p:sp>
        <p:nvSpPr>
          <p:cNvPr id="44" name="t"/>
          <p:cNvSpPr txBox="1"/>
          <p:nvPr/>
        </p:nvSpPr>
        <p:spPr>
          <a:xfrm>
            <a:off x="6565392" y="3511296"/>
            <a:ext cx="2276856" cy="365760"/>
          </a:xfrm>
          <a:prstGeom prst="rect">
            <a:avLst/>
          </a:prstGeom>
          <a:noFill/>
        </p:spPr>
        <p:txBody>
          <a:bodyPr wrap="square" lIns="63500" tIns="38100" rIns="63500" bIns="38100" anchor="t">
            <a:normAutofit/>
          </a:bodyPr>
          <a:lstStyle/>
          <a:p>
            <a:pPr algn="l">
              <a:lnSpc>
                <a:spcPct val="100000"/>
              </a:lnSpc>
              <a:spcAft>
                <a:spcPts val="300"/>
              </a:spcAft>
            </a:pPr>
            <a:r>
              <a:rPr lang="vi-VN" sz="1500" b="1" i="0" dirty="0">
                <a:solidFill>
                  <a:srgbClr val="005BA1"/>
                </a:solidFill>
                <a:latin typeface="Segoe UI"/>
                <a:cs typeface="Segoe UI"/>
              </a:rPr>
              <a:t>③ Vật lý</a:t>
            </a:r>
          </a:p>
        </p:txBody>
      </p:sp>
      <p:sp>
        <p:nvSpPr>
          <p:cNvPr id="45" name="t"/>
          <p:cNvSpPr txBox="1"/>
          <p:nvPr/>
        </p:nvSpPr>
        <p:spPr>
          <a:xfrm>
            <a:off x="6565392" y="3931920"/>
            <a:ext cx="2276856" cy="731520"/>
          </a:xfrm>
          <a:prstGeom prst="rect">
            <a:avLst/>
          </a:prstGeom>
          <a:noFill/>
        </p:spPr>
        <p:txBody>
          <a:bodyPr wrap="square" lIns="63500" tIns="38100" rIns="63500" bIns="38100" anchor="t">
            <a:normAutofit/>
          </a:bodyPr>
          <a:lstStyle/>
          <a:p>
            <a:pPr algn="l">
              <a:lnSpc>
                <a:spcPct val="108000"/>
              </a:lnSpc>
              <a:spcAft>
                <a:spcPts val="300"/>
              </a:spcAft>
            </a:pPr>
            <a:r>
              <a:rPr lang="vi-VN" sz="1250" b="0" i="0" dirty="0">
                <a:solidFill>
                  <a:srgbClr val="5A6B7B"/>
                </a:solidFill>
                <a:latin typeface="Segoe UI"/>
                <a:cs typeface="Segoe UI"/>
              </a:rPr>
              <a:t>Bức xạ ↔ nhiệt độ tương quan ra sao? Mưa &amp; mây tác động gì?</a:t>
            </a:r>
          </a:p>
        </p:txBody>
      </p:sp>
      <p:sp>
        <p:nvSpPr>
          <p:cNvPr id="46" name="s"/>
          <p:cNvSpPr/>
          <p:nvPr/>
        </p:nvSpPr>
        <p:spPr>
          <a:xfrm>
            <a:off x="9144000" y="3383280"/>
            <a:ext cx="2606040" cy="1371600"/>
          </a:xfrm>
          <a:prstGeom prst="roundRect">
            <a:avLst/>
          </a:prstGeom>
          <a:solidFill>
            <a:srgbClr val="FFFFFF"/>
          </a:solidFill>
          <a:ln w="12700">
            <a:solidFill>
              <a:srgbClr val="D7E3EF"/>
            </a:solidFill>
          </a:ln>
        </p:spPr>
        <p:txBody>
          <a:bodyPr/>
          <a:lstStyle/>
          <a:p>
            <a:endParaRPr/>
          </a:p>
        </p:txBody>
      </p:sp>
      <p:sp>
        <p:nvSpPr>
          <p:cNvPr id="47" name="t"/>
          <p:cNvSpPr txBox="1"/>
          <p:nvPr/>
        </p:nvSpPr>
        <p:spPr>
          <a:xfrm>
            <a:off x="9308592" y="3511296"/>
            <a:ext cx="2276856" cy="365760"/>
          </a:xfrm>
          <a:prstGeom prst="rect">
            <a:avLst/>
          </a:prstGeom>
          <a:noFill/>
        </p:spPr>
        <p:txBody>
          <a:bodyPr wrap="square" lIns="63500" tIns="38100" rIns="63500" bIns="38100" anchor="t">
            <a:normAutofit/>
          </a:bodyPr>
          <a:lstStyle/>
          <a:p>
            <a:pPr algn="l">
              <a:lnSpc>
                <a:spcPct val="100000"/>
              </a:lnSpc>
              <a:spcAft>
                <a:spcPts val="300"/>
              </a:spcAft>
            </a:pPr>
            <a:r>
              <a:rPr lang="vi-VN" sz="1500" b="1" i="0" dirty="0">
                <a:solidFill>
                  <a:srgbClr val="005BA1"/>
                </a:solidFill>
                <a:latin typeface="Segoe UI"/>
                <a:cs typeface="Segoe UI"/>
              </a:rPr>
              <a:t>④ Cực đoan</a:t>
            </a:r>
          </a:p>
        </p:txBody>
      </p:sp>
      <p:sp>
        <p:nvSpPr>
          <p:cNvPr id="48" name="t"/>
          <p:cNvSpPr txBox="1"/>
          <p:nvPr/>
        </p:nvSpPr>
        <p:spPr>
          <a:xfrm>
            <a:off x="9308592" y="3931920"/>
            <a:ext cx="2276856" cy="731520"/>
          </a:xfrm>
          <a:prstGeom prst="rect">
            <a:avLst/>
          </a:prstGeom>
          <a:noFill/>
        </p:spPr>
        <p:txBody>
          <a:bodyPr wrap="square" lIns="63500" tIns="38100" rIns="63500" bIns="38100" anchor="t">
            <a:normAutofit/>
          </a:bodyPr>
          <a:lstStyle/>
          <a:p>
            <a:pPr algn="l">
              <a:lnSpc>
                <a:spcPct val="108000"/>
              </a:lnSpc>
              <a:spcAft>
                <a:spcPts val="300"/>
              </a:spcAft>
            </a:pPr>
            <a:r>
              <a:rPr lang="vi-VN" sz="1250" b="0" i="0" dirty="0">
                <a:solidFill>
                  <a:srgbClr val="5A6B7B"/>
                </a:solidFill>
                <a:latin typeface="Segoe UI"/>
                <a:cs typeface="Segoe UI"/>
              </a:rPr>
              <a:t>Nơi nào nắng nóng gay gắt nhất? Đợt mưa lịch sử ở đâu?</a:t>
            </a:r>
          </a:p>
        </p:txBody>
      </p:sp>
      <p:sp>
        <p:nvSpPr>
          <p:cNvPr id="49" name="s"/>
          <p:cNvSpPr/>
          <p:nvPr/>
        </p:nvSpPr>
        <p:spPr>
          <a:xfrm>
            <a:off x="548640" y="6327648"/>
            <a:ext cx="11091672" cy="12802"/>
          </a:xfrm>
          <a:prstGeom prst="rect">
            <a:avLst/>
          </a:prstGeom>
          <a:solidFill>
            <a:srgbClr val="D7E3EF"/>
          </a:solidFill>
          <a:ln>
            <a:noFill/>
          </a:ln>
        </p:spPr>
        <p:txBody>
          <a:bodyPr/>
          <a:lstStyle/>
          <a:p>
            <a:endParaRPr/>
          </a:p>
        </p:txBody>
      </p:sp>
      <p:sp>
        <p:nvSpPr>
          <p:cNvPr id="50" name="t"/>
          <p:cNvSpPr txBox="1"/>
          <p:nvPr/>
        </p:nvSpPr>
        <p:spPr>
          <a:xfrm>
            <a:off x="548640" y="6373368"/>
            <a:ext cx="8229600" cy="320040"/>
          </a:xfrm>
          <a:prstGeom prst="rect">
            <a:avLst/>
          </a:prstGeom>
          <a:noFill/>
        </p:spPr>
        <p:txBody>
          <a:bodyPr wrap="square" lIns="63500" tIns="38100" rIns="63500" bIns="38100" anchor="ctr">
            <a:normAutofit/>
          </a:bodyPr>
          <a:lstStyle/>
          <a:p>
            <a:pPr algn="l">
              <a:lnSpc>
                <a:spcPct val="100000"/>
              </a:lnSpc>
              <a:spcAft>
                <a:spcPts val="300"/>
              </a:spcAft>
            </a:pPr>
            <a:r>
              <a:rPr lang="vi-VN" sz="1200" b="1" i="0" dirty="0">
                <a:solidFill>
                  <a:srgbClr val="005BA1"/>
                </a:solidFill>
                <a:latin typeface="Segoe UI"/>
                <a:cs typeface="Segoe UI"/>
              </a:rPr>
              <a:t>Bối cảnh &amp; Mục tiêu</a:t>
            </a:r>
          </a:p>
        </p:txBody>
      </p:sp>
      <p:sp>
        <p:nvSpPr>
          <p:cNvPr id="51" name="t"/>
          <p:cNvSpPr txBox="1"/>
          <p:nvPr/>
        </p:nvSpPr>
        <p:spPr>
          <a:xfrm>
            <a:off x="10515600" y="6373368"/>
            <a:ext cx="1124712" cy="320040"/>
          </a:xfrm>
          <a:prstGeom prst="rect">
            <a:avLst/>
          </a:prstGeom>
          <a:noFill/>
        </p:spPr>
        <p:txBody>
          <a:bodyPr wrap="square" lIns="63500" tIns="38100" rIns="63500" bIns="38100" anchor="ctr">
            <a:normAutofit/>
          </a:bodyPr>
          <a:lstStyle/>
          <a:p>
            <a:pPr algn="r">
              <a:lnSpc>
                <a:spcPct val="100000"/>
              </a:lnSpc>
              <a:spcAft>
                <a:spcPts val="300"/>
              </a:spcAft>
            </a:pPr>
            <a:r>
              <a:rPr lang="vi-VN" sz="1300" b="1" i="0" dirty="0">
                <a:solidFill>
                  <a:srgbClr val="002B5C"/>
                </a:solidFill>
                <a:latin typeface="Segoe UI"/>
                <a:cs typeface="Segoe U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s"/>
          <p:cNvSpPr/>
          <p:nvPr/>
        </p:nvSpPr>
        <p:spPr>
          <a:xfrm>
            <a:off x="0" y="0"/>
            <a:ext cx="12191695" cy="100584"/>
          </a:xfrm>
          <a:prstGeom prst="rect">
            <a:avLst/>
          </a:prstGeom>
          <a:solidFill>
            <a:srgbClr val="0070C0"/>
          </a:solidFill>
          <a:ln>
            <a:noFill/>
          </a:ln>
        </p:spPr>
        <p:txBody>
          <a:bodyPr/>
          <a:lstStyle/>
          <a:p>
            <a:endParaRPr/>
          </a:p>
        </p:txBody>
      </p:sp>
      <p:sp>
        <p:nvSpPr>
          <p:cNvPr id="53" name="t"/>
          <p:cNvSpPr txBox="1"/>
          <p:nvPr/>
        </p:nvSpPr>
        <p:spPr>
          <a:xfrm>
            <a:off x="548640" y="384048"/>
            <a:ext cx="10058400" cy="274320"/>
          </a:xfrm>
          <a:prstGeom prst="rect">
            <a:avLst/>
          </a:prstGeom>
          <a:noFill/>
        </p:spPr>
        <p:txBody>
          <a:bodyPr wrap="square" lIns="63500" tIns="38100" rIns="63500" bIns="38100" anchor="t">
            <a:normAutofit/>
          </a:bodyPr>
          <a:lstStyle/>
          <a:p>
            <a:pPr algn="l">
              <a:lnSpc>
                <a:spcPct val="100000"/>
              </a:lnSpc>
              <a:spcAft>
                <a:spcPts val="300"/>
              </a:spcAft>
            </a:pPr>
            <a:r>
              <a:rPr lang="vi-VN" sz="1150" b="1" i="0" dirty="0">
                <a:solidFill>
                  <a:srgbClr val="0070C0"/>
                </a:solidFill>
                <a:latin typeface="Segoe UI"/>
                <a:cs typeface="Segoe UI"/>
              </a:rPr>
              <a:t>DỮ LIỆU</a:t>
            </a:r>
          </a:p>
        </p:txBody>
      </p:sp>
      <p:sp>
        <p:nvSpPr>
          <p:cNvPr id="54" name="t"/>
          <p:cNvSpPr txBox="1"/>
          <p:nvPr/>
        </p:nvSpPr>
        <p:spPr>
          <a:xfrm>
            <a:off x="548640" y="658368"/>
            <a:ext cx="10972800" cy="640080"/>
          </a:xfrm>
          <a:prstGeom prst="rect">
            <a:avLst/>
          </a:prstGeom>
          <a:noFill/>
        </p:spPr>
        <p:txBody>
          <a:bodyPr wrap="square" lIns="63500" tIns="38100" rIns="63500" bIns="38100" anchor="t">
            <a:normAutofit/>
          </a:bodyPr>
          <a:lstStyle/>
          <a:p>
            <a:pPr algn="l">
              <a:lnSpc>
                <a:spcPct val="100000"/>
              </a:lnSpc>
              <a:spcAft>
                <a:spcPts val="300"/>
              </a:spcAft>
            </a:pPr>
            <a:r>
              <a:rPr lang="vi-VN" sz="2500" b="1" i="0" dirty="0">
                <a:solidFill>
                  <a:srgbClr val="002B5C"/>
                </a:solidFill>
                <a:latin typeface="Segoe UI"/>
                <a:cs typeface="Segoe UI"/>
              </a:rPr>
              <a:t>Bộ dữ liệu khí hậu sạch &amp; đáng tin cậy</a:t>
            </a:r>
          </a:p>
        </p:txBody>
      </p:sp>
      <p:sp>
        <p:nvSpPr>
          <p:cNvPr id="55" name="s"/>
          <p:cNvSpPr/>
          <p:nvPr/>
        </p:nvSpPr>
        <p:spPr>
          <a:xfrm>
            <a:off x="566928" y="1298448"/>
            <a:ext cx="822960" cy="45720"/>
          </a:xfrm>
          <a:prstGeom prst="rect">
            <a:avLst/>
          </a:prstGeom>
          <a:solidFill>
            <a:srgbClr val="0070C0"/>
          </a:solidFill>
          <a:ln>
            <a:noFill/>
          </a:ln>
        </p:spPr>
        <p:txBody>
          <a:bodyPr/>
          <a:lstStyle/>
          <a:p>
            <a:endParaRPr/>
          </a:p>
        </p:txBody>
      </p:sp>
      <p:sp>
        <p:nvSpPr>
          <p:cNvPr id="56" name="s"/>
          <p:cNvSpPr/>
          <p:nvPr/>
        </p:nvSpPr>
        <p:spPr>
          <a:xfrm>
            <a:off x="548640" y="1554480"/>
            <a:ext cx="3520440" cy="1234440"/>
          </a:xfrm>
          <a:prstGeom prst="roundRect">
            <a:avLst/>
          </a:prstGeom>
          <a:solidFill>
            <a:srgbClr val="F2F8FE"/>
          </a:solidFill>
          <a:ln w="12700">
            <a:solidFill>
              <a:srgbClr val="D7E3EF"/>
            </a:solidFill>
          </a:ln>
        </p:spPr>
        <p:txBody>
          <a:bodyPr/>
          <a:lstStyle/>
          <a:p>
            <a:endParaRPr/>
          </a:p>
        </p:txBody>
      </p:sp>
      <p:sp>
        <p:nvSpPr>
          <p:cNvPr id="57" name="t"/>
          <p:cNvSpPr txBox="1"/>
          <p:nvPr/>
        </p:nvSpPr>
        <p:spPr>
          <a:xfrm>
            <a:off x="548640" y="1700784"/>
            <a:ext cx="3520440" cy="548640"/>
          </a:xfrm>
          <a:prstGeom prst="rect">
            <a:avLst/>
          </a:prstGeom>
          <a:noFill/>
        </p:spPr>
        <p:txBody>
          <a:bodyPr wrap="square" lIns="63500" tIns="38100" rIns="63500" bIns="38100" anchor="ctr">
            <a:normAutofit/>
          </a:bodyPr>
          <a:lstStyle/>
          <a:p>
            <a:pPr algn="ctr">
              <a:lnSpc>
                <a:spcPct val="100000"/>
              </a:lnSpc>
              <a:spcAft>
                <a:spcPts val="300"/>
              </a:spcAft>
            </a:pPr>
            <a:r>
              <a:rPr lang="vi-VN" sz="2800" b="1" i="0" dirty="0">
                <a:solidFill>
                  <a:srgbClr val="0070C0"/>
                </a:solidFill>
                <a:latin typeface="Segoe UI"/>
                <a:cs typeface="Segoe UI"/>
              </a:rPr>
              <a:t>28</a:t>
            </a:r>
          </a:p>
        </p:txBody>
      </p:sp>
      <p:sp>
        <p:nvSpPr>
          <p:cNvPr id="58" name="t"/>
          <p:cNvSpPr txBox="1"/>
          <p:nvPr/>
        </p:nvSpPr>
        <p:spPr>
          <a:xfrm>
            <a:off x="640080" y="2304288"/>
            <a:ext cx="3337560" cy="457200"/>
          </a:xfrm>
          <a:prstGeom prst="rect">
            <a:avLst/>
          </a:prstGeom>
          <a:noFill/>
        </p:spPr>
        <p:txBody>
          <a:bodyPr wrap="square" lIns="63500" tIns="38100" rIns="63500" bIns="38100" anchor="t">
            <a:normAutofit/>
          </a:bodyPr>
          <a:lstStyle/>
          <a:p>
            <a:pPr algn="ctr">
              <a:lnSpc>
                <a:spcPct val="100000"/>
              </a:lnSpc>
              <a:spcAft>
                <a:spcPts val="300"/>
              </a:spcAft>
            </a:pPr>
            <a:r>
              <a:rPr lang="vi-VN" sz="1200" b="1" i="0" dirty="0">
                <a:solidFill>
                  <a:srgbClr val="5A6B7B"/>
                </a:solidFill>
                <a:latin typeface="Segoe UI"/>
                <a:cs typeface="Segoe UI"/>
              </a:rPr>
              <a:t>trạm quan trắc toàn quốc</a:t>
            </a:r>
          </a:p>
        </p:txBody>
      </p:sp>
      <p:sp>
        <p:nvSpPr>
          <p:cNvPr id="59" name="s"/>
          <p:cNvSpPr/>
          <p:nvPr/>
        </p:nvSpPr>
        <p:spPr>
          <a:xfrm>
            <a:off x="4279392" y="1554480"/>
            <a:ext cx="3520440" cy="1234440"/>
          </a:xfrm>
          <a:prstGeom prst="roundRect">
            <a:avLst/>
          </a:prstGeom>
          <a:solidFill>
            <a:srgbClr val="F2F8FE"/>
          </a:solidFill>
          <a:ln w="12700">
            <a:solidFill>
              <a:srgbClr val="D7E3EF"/>
            </a:solidFill>
          </a:ln>
        </p:spPr>
        <p:txBody>
          <a:bodyPr/>
          <a:lstStyle/>
          <a:p>
            <a:endParaRPr/>
          </a:p>
        </p:txBody>
      </p:sp>
      <p:sp>
        <p:nvSpPr>
          <p:cNvPr id="60" name="t"/>
          <p:cNvSpPr txBox="1"/>
          <p:nvPr/>
        </p:nvSpPr>
        <p:spPr>
          <a:xfrm>
            <a:off x="4279392" y="1700784"/>
            <a:ext cx="3520440" cy="548640"/>
          </a:xfrm>
          <a:prstGeom prst="rect">
            <a:avLst/>
          </a:prstGeom>
          <a:noFill/>
        </p:spPr>
        <p:txBody>
          <a:bodyPr wrap="square" lIns="63500" tIns="38100" rIns="63500" bIns="38100" anchor="ctr">
            <a:normAutofit/>
          </a:bodyPr>
          <a:lstStyle/>
          <a:p>
            <a:pPr algn="ctr">
              <a:lnSpc>
                <a:spcPct val="100000"/>
              </a:lnSpc>
              <a:spcAft>
                <a:spcPts val="300"/>
              </a:spcAft>
            </a:pPr>
            <a:r>
              <a:rPr lang="vi-VN" sz="2800" b="1" i="0" dirty="0">
                <a:solidFill>
                  <a:srgbClr val="0070C0"/>
                </a:solidFill>
                <a:latin typeface="Segoe UI"/>
                <a:cs typeface="Segoe UI"/>
              </a:rPr>
              <a:t>61.376</a:t>
            </a:r>
          </a:p>
        </p:txBody>
      </p:sp>
      <p:sp>
        <p:nvSpPr>
          <p:cNvPr id="61" name="t"/>
          <p:cNvSpPr txBox="1"/>
          <p:nvPr/>
        </p:nvSpPr>
        <p:spPr>
          <a:xfrm>
            <a:off x="4370832" y="2304288"/>
            <a:ext cx="3337560" cy="457200"/>
          </a:xfrm>
          <a:prstGeom prst="rect">
            <a:avLst/>
          </a:prstGeom>
          <a:noFill/>
        </p:spPr>
        <p:txBody>
          <a:bodyPr wrap="square" lIns="63500" tIns="38100" rIns="63500" bIns="38100" anchor="t">
            <a:normAutofit/>
          </a:bodyPr>
          <a:lstStyle/>
          <a:p>
            <a:pPr algn="ctr">
              <a:lnSpc>
                <a:spcPct val="100000"/>
              </a:lnSpc>
              <a:spcAft>
                <a:spcPts val="300"/>
              </a:spcAft>
            </a:pPr>
            <a:r>
              <a:rPr lang="vi-VN" sz="1200" b="1" i="0" dirty="0">
                <a:solidFill>
                  <a:srgbClr val="5A6B7B"/>
                </a:solidFill>
                <a:latin typeface="Segoe UI"/>
                <a:cs typeface="Segoe UI"/>
              </a:rPr>
              <a:t>dòng dữ liệu ngày</a:t>
            </a:r>
          </a:p>
        </p:txBody>
      </p:sp>
      <p:sp>
        <p:nvSpPr>
          <p:cNvPr id="62" name="s"/>
          <p:cNvSpPr/>
          <p:nvPr/>
        </p:nvSpPr>
        <p:spPr>
          <a:xfrm>
            <a:off x="8010144" y="1554480"/>
            <a:ext cx="3520440" cy="1234440"/>
          </a:xfrm>
          <a:prstGeom prst="roundRect">
            <a:avLst/>
          </a:prstGeom>
          <a:solidFill>
            <a:srgbClr val="F2F8FE"/>
          </a:solidFill>
          <a:ln w="12700">
            <a:solidFill>
              <a:srgbClr val="D7E3EF"/>
            </a:solidFill>
          </a:ln>
        </p:spPr>
        <p:txBody>
          <a:bodyPr/>
          <a:lstStyle/>
          <a:p>
            <a:endParaRPr/>
          </a:p>
        </p:txBody>
      </p:sp>
      <p:sp>
        <p:nvSpPr>
          <p:cNvPr id="63" name="t"/>
          <p:cNvSpPr txBox="1"/>
          <p:nvPr/>
        </p:nvSpPr>
        <p:spPr>
          <a:xfrm>
            <a:off x="8010144" y="1700784"/>
            <a:ext cx="3520440" cy="548640"/>
          </a:xfrm>
          <a:prstGeom prst="rect">
            <a:avLst/>
          </a:prstGeom>
          <a:noFill/>
        </p:spPr>
        <p:txBody>
          <a:bodyPr wrap="square" lIns="63500" tIns="38100" rIns="63500" bIns="38100" anchor="ctr">
            <a:normAutofit/>
          </a:bodyPr>
          <a:lstStyle/>
          <a:p>
            <a:pPr algn="ctr">
              <a:lnSpc>
                <a:spcPct val="100000"/>
              </a:lnSpc>
              <a:spcAft>
                <a:spcPts val="300"/>
              </a:spcAft>
            </a:pPr>
            <a:r>
              <a:rPr lang="vi-VN" sz="2800" b="1" i="0" dirty="0">
                <a:solidFill>
                  <a:srgbClr val="0070C0"/>
                </a:solidFill>
                <a:latin typeface="Segoe UI"/>
                <a:cs typeface="Segoe UI"/>
              </a:rPr>
              <a:t>2020–2025</a:t>
            </a:r>
          </a:p>
        </p:txBody>
      </p:sp>
      <p:sp>
        <p:nvSpPr>
          <p:cNvPr id="64" name="t"/>
          <p:cNvSpPr txBox="1"/>
          <p:nvPr/>
        </p:nvSpPr>
        <p:spPr>
          <a:xfrm>
            <a:off x="8101584" y="2304288"/>
            <a:ext cx="3337560" cy="457200"/>
          </a:xfrm>
          <a:prstGeom prst="rect">
            <a:avLst/>
          </a:prstGeom>
          <a:noFill/>
        </p:spPr>
        <p:txBody>
          <a:bodyPr wrap="square" lIns="63500" tIns="38100" rIns="63500" bIns="38100" anchor="t">
            <a:normAutofit/>
          </a:bodyPr>
          <a:lstStyle/>
          <a:p>
            <a:pPr algn="ctr">
              <a:lnSpc>
                <a:spcPct val="100000"/>
              </a:lnSpc>
              <a:spcAft>
                <a:spcPts val="300"/>
              </a:spcAft>
            </a:pPr>
            <a:r>
              <a:rPr lang="vi-VN" sz="1200" b="1" i="0" dirty="0">
                <a:solidFill>
                  <a:srgbClr val="5A6B7B"/>
                </a:solidFill>
                <a:latin typeface="Segoe UI"/>
                <a:cs typeface="Segoe UI"/>
              </a:rPr>
              <a:t>6 năm liên tục</a:t>
            </a:r>
          </a:p>
        </p:txBody>
      </p:sp>
      <p:sp>
        <p:nvSpPr>
          <p:cNvPr id="65" name="s"/>
          <p:cNvSpPr/>
          <p:nvPr/>
        </p:nvSpPr>
        <p:spPr>
          <a:xfrm>
            <a:off x="548640" y="2971800"/>
            <a:ext cx="3520440" cy="1234440"/>
          </a:xfrm>
          <a:prstGeom prst="roundRect">
            <a:avLst/>
          </a:prstGeom>
          <a:solidFill>
            <a:srgbClr val="F2F8FE"/>
          </a:solidFill>
          <a:ln w="12700">
            <a:solidFill>
              <a:srgbClr val="D7E3EF"/>
            </a:solidFill>
          </a:ln>
        </p:spPr>
        <p:txBody>
          <a:bodyPr/>
          <a:lstStyle/>
          <a:p>
            <a:endParaRPr/>
          </a:p>
        </p:txBody>
      </p:sp>
      <p:sp>
        <p:nvSpPr>
          <p:cNvPr id="66" name="t"/>
          <p:cNvSpPr txBox="1"/>
          <p:nvPr/>
        </p:nvSpPr>
        <p:spPr>
          <a:xfrm>
            <a:off x="548640" y="3118104"/>
            <a:ext cx="3520440" cy="548640"/>
          </a:xfrm>
          <a:prstGeom prst="rect">
            <a:avLst/>
          </a:prstGeom>
          <a:noFill/>
        </p:spPr>
        <p:txBody>
          <a:bodyPr wrap="square" lIns="63500" tIns="38100" rIns="63500" bIns="38100" anchor="ctr">
            <a:normAutofit/>
          </a:bodyPr>
          <a:lstStyle/>
          <a:p>
            <a:pPr algn="ctr">
              <a:lnSpc>
                <a:spcPct val="100000"/>
              </a:lnSpc>
              <a:spcAft>
                <a:spcPts val="300"/>
              </a:spcAft>
            </a:pPr>
            <a:r>
              <a:rPr lang="vi-VN" sz="2800" b="1" i="0" dirty="0">
                <a:solidFill>
                  <a:srgbClr val="0070C0"/>
                </a:solidFill>
                <a:latin typeface="Segoe UI"/>
                <a:cs typeface="Segoe UI"/>
              </a:rPr>
              <a:t>12</a:t>
            </a:r>
          </a:p>
        </p:txBody>
      </p:sp>
      <p:sp>
        <p:nvSpPr>
          <p:cNvPr id="67" name="t"/>
          <p:cNvSpPr txBox="1"/>
          <p:nvPr/>
        </p:nvSpPr>
        <p:spPr>
          <a:xfrm>
            <a:off x="640080" y="3721608"/>
            <a:ext cx="3337560" cy="457200"/>
          </a:xfrm>
          <a:prstGeom prst="rect">
            <a:avLst/>
          </a:prstGeom>
          <a:noFill/>
        </p:spPr>
        <p:txBody>
          <a:bodyPr wrap="square" lIns="63500" tIns="38100" rIns="63500" bIns="38100" anchor="t">
            <a:normAutofit/>
          </a:bodyPr>
          <a:lstStyle/>
          <a:p>
            <a:pPr algn="ctr">
              <a:lnSpc>
                <a:spcPct val="100000"/>
              </a:lnSpc>
              <a:spcAft>
                <a:spcPts val="300"/>
              </a:spcAft>
            </a:pPr>
            <a:r>
              <a:rPr lang="vi-VN" sz="1200" b="1" i="0" dirty="0">
                <a:solidFill>
                  <a:srgbClr val="5A6B7B"/>
                </a:solidFill>
                <a:latin typeface="Segoe UI"/>
                <a:cs typeface="Segoe UI"/>
              </a:rPr>
              <a:t>biến (5 định danh · 7 đo lường)</a:t>
            </a:r>
          </a:p>
        </p:txBody>
      </p:sp>
      <p:sp>
        <p:nvSpPr>
          <p:cNvPr id="68" name="s"/>
          <p:cNvSpPr/>
          <p:nvPr/>
        </p:nvSpPr>
        <p:spPr>
          <a:xfrm>
            <a:off x="4279392" y="2971800"/>
            <a:ext cx="3520440" cy="1234440"/>
          </a:xfrm>
          <a:prstGeom prst="roundRect">
            <a:avLst/>
          </a:prstGeom>
          <a:solidFill>
            <a:srgbClr val="F2F8FE"/>
          </a:solidFill>
          <a:ln w="12700">
            <a:solidFill>
              <a:srgbClr val="D7E3EF"/>
            </a:solidFill>
          </a:ln>
        </p:spPr>
        <p:txBody>
          <a:bodyPr/>
          <a:lstStyle/>
          <a:p>
            <a:endParaRPr/>
          </a:p>
        </p:txBody>
      </p:sp>
      <p:sp>
        <p:nvSpPr>
          <p:cNvPr id="69" name="t"/>
          <p:cNvSpPr txBox="1"/>
          <p:nvPr/>
        </p:nvSpPr>
        <p:spPr>
          <a:xfrm>
            <a:off x="4279392" y="3118104"/>
            <a:ext cx="3520440" cy="548640"/>
          </a:xfrm>
          <a:prstGeom prst="rect">
            <a:avLst/>
          </a:prstGeom>
          <a:noFill/>
        </p:spPr>
        <p:txBody>
          <a:bodyPr wrap="square" lIns="63500" tIns="38100" rIns="63500" bIns="38100" anchor="ctr">
            <a:normAutofit/>
          </a:bodyPr>
          <a:lstStyle/>
          <a:p>
            <a:pPr algn="ctr">
              <a:lnSpc>
                <a:spcPct val="100000"/>
              </a:lnSpc>
              <a:spcAft>
                <a:spcPts val="300"/>
              </a:spcAft>
            </a:pPr>
            <a:r>
              <a:rPr lang="vi-VN" sz="2800" b="1" i="0" dirty="0">
                <a:solidFill>
                  <a:srgbClr val="0070C0"/>
                </a:solidFill>
                <a:latin typeface="Segoe UI"/>
                <a:cs typeface="Segoe UI"/>
              </a:rPr>
              <a:t>0.00%</a:t>
            </a:r>
          </a:p>
        </p:txBody>
      </p:sp>
      <p:sp>
        <p:nvSpPr>
          <p:cNvPr id="70" name="t"/>
          <p:cNvSpPr txBox="1"/>
          <p:nvPr/>
        </p:nvSpPr>
        <p:spPr>
          <a:xfrm>
            <a:off x="4370832" y="3721608"/>
            <a:ext cx="3337560" cy="457200"/>
          </a:xfrm>
          <a:prstGeom prst="rect">
            <a:avLst/>
          </a:prstGeom>
          <a:noFill/>
        </p:spPr>
        <p:txBody>
          <a:bodyPr wrap="square" lIns="63500" tIns="38100" rIns="63500" bIns="38100" anchor="t">
            <a:normAutofit/>
          </a:bodyPr>
          <a:lstStyle/>
          <a:p>
            <a:pPr algn="ctr">
              <a:lnSpc>
                <a:spcPct val="100000"/>
              </a:lnSpc>
              <a:spcAft>
                <a:spcPts val="300"/>
              </a:spcAft>
            </a:pPr>
            <a:r>
              <a:rPr lang="vi-VN" sz="1200" b="1" i="0" dirty="0">
                <a:solidFill>
                  <a:srgbClr val="5A6B7B"/>
                </a:solidFill>
                <a:latin typeface="Segoe UI"/>
                <a:cs typeface="Segoe UI"/>
              </a:rPr>
              <a:t>giá trị khuyết thiếu</a:t>
            </a:r>
          </a:p>
        </p:txBody>
      </p:sp>
      <p:sp>
        <p:nvSpPr>
          <p:cNvPr id="71" name="s"/>
          <p:cNvSpPr/>
          <p:nvPr/>
        </p:nvSpPr>
        <p:spPr>
          <a:xfrm>
            <a:off x="8010144" y="2971800"/>
            <a:ext cx="3520440" cy="1234440"/>
          </a:xfrm>
          <a:prstGeom prst="roundRect">
            <a:avLst/>
          </a:prstGeom>
          <a:solidFill>
            <a:srgbClr val="F2F8FE"/>
          </a:solidFill>
          <a:ln w="12700">
            <a:solidFill>
              <a:srgbClr val="D7E3EF"/>
            </a:solidFill>
          </a:ln>
        </p:spPr>
        <p:txBody>
          <a:bodyPr/>
          <a:lstStyle/>
          <a:p>
            <a:endParaRPr/>
          </a:p>
        </p:txBody>
      </p:sp>
      <p:sp>
        <p:nvSpPr>
          <p:cNvPr id="72" name="t"/>
          <p:cNvSpPr txBox="1"/>
          <p:nvPr/>
        </p:nvSpPr>
        <p:spPr>
          <a:xfrm>
            <a:off x="8010144" y="3118104"/>
            <a:ext cx="3520440" cy="548640"/>
          </a:xfrm>
          <a:prstGeom prst="rect">
            <a:avLst/>
          </a:prstGeom>
          <a:noFill/>
        </p:spPr>
        <p:txBody>
          <a:bodyPr wrap="square" lIns="63500" tIns="38100" rIns="63500" bIns="38100" anchor="ctr">
            <a:normAutofit/>
          </a:bodyPr>
          <a:lstStyle/>
          <a:p>
            <a:pPr algn="ctr">
              <a:lnSpc>
                <a:spcPct val="100000"/>
              </a:lnSpc>
              <a:spcAft>
                <a:spcPts val="300"/>
              </a:spcAft>
            </a:pPr>
            <a:r>
              <a:rPr lang="vi-VN" sz="2800" b="1" i="0" dirty="0">
                <a:solidFill>
                  <a:srgbClr val="0070C0"/>
                </a:solidFill>
                <a:latin typeface="Segoe UI"/>
                <a:cs typeface="Segoe UI"/>
              </a:rPr>
              <a:t>0.00%</a:t>
            </a:r>
          </a:p>
        </p:txBody>
      </p:sp>
      <p:sp>
        <p:nvSpPr>
          <p:cNvPr id="73" name="t"/>
          <p:cNvSpPr txBox="1"/>
          <p:nvPr/>
        </p:nvSpPr>
        <p:spPr>
          <a:xfrm>
            <a:off x="8101584" y="3721608"/>
            <a:ext cx="3337560" cy="457200"/>
          </a:xfrm>
          <a:prstGeom prst="rect">
            <a:avLst/>
          </a:prstGeom>
          <a:noFill/>
        </p:spPr>
        <p:txBody>
          <a:bodyPr wrap="square" lIns="63500" tIns="38100" rIns="63500" bIns="38100" anchor="t">
            <a:normAutofit/>
          </a:bodyPr>
          <a:lstStyle/>
          <a:p>
            <a:pPr algn="ctr">
              <a:lnSpc>
                <a:spcPct val="100000"/>
              </a:lnSpc>
              <a:spcAft>
                <a:spcPts val="300"/>
              </a:spcAft>
            </a:pPr>
            <a:r>
              <a:rPr lang="vi-VN" sz="1200" b="1" i="0" dirty="0">
                <a:solidFill>
                  <a:srgbClr val="5A6B7B"/>
                </a:solidFill>
                <a:latin typeface="Segoe UI"/>
                <a:cs typeface="Segoe UI"/>
              </a:rPr>
              <a:t>bản ghi trùng lặp</a:t>
            </a:r>
          </a:p>
        </p:txBody>
      </p:sp>
      <p:sp>
        <p:nvSpPr>
          <p:cNvPr id="74" name="t"/>
          <p:cNvSpPr txBox="1"/>
          <p:nvPr/>
        </p:nvSpPr>
        <p:spPr>
          <a:xfrm>
            <a:off x="548640" y="4526280"/>
            <a:ext cx="10972800" cy="365760"/>
          </a:xfrm>
          <a:prstGeom prst="rect">
            <a:avLst/>
          </a:prstGeom>
          <a:noFill/>
        </p:spPr>
        <p:txBody>
          <a:bodyPr wrap="square" lIns="63500" tIns="38100" rIns="63500" bIns="38100" anchor="t">
            <a:normAutofit/>
          </a:bodyPr>
          <a:lstStyle/>
          <a:p>
            <a:pPr algn="l">
              <a:lnSpc>
                <a:spcPct val="100000"/>
              </a:lnSpc>
              <a:spcAft>
                <a:spcPts val="300"/>
              </a:spcAft>
            </a:pPr>
            <a:r>
              <a:rPr lang="vi-VN" sz="1500" b="1" i="0" dirty="0">
                <a:solidFill>
                  <a:srgbClr val="005BA1"/>
                </a:solidFill>
                <a:latin typeface="Segoe UI"/>
                <a:cs typeface="Segoe UI"/>
              </a:rPr>
              <a:t>Nguồn &amp; định dạng</a:t>
            </a:r>
          </a:p>
        </p:txBody>
      </p:sp>
      <p:sp>
        <p:nvSpPr>
          <p:cNvPr id="75" name="t"/>
          <p:cNvSpPr txBox="1"/>
          <p:nvPr/>
        </p:nvSpPr>
        <p:spPr>
          <a:xfrm>
            <a:off x="548640" y="4846320"/>
            <a:ext cx="10972800" cy="548640"/>
          </a:xfrm>
          <a:prstGeom prst="rect">
            <a:avLst/>
          </a:prstGeom>
          <a:noFill/>
        </p:spPr>
        <p:txBody>
          <a:bodyPr wrap="square" lIns="63500" tIns="38100" rIns="63500" bIns="38100" anchor="t">
            <a:normAutofit/>
          </a:bodyPr>
          <a:lstStyle/>
          <a:p>
            <a:pPr algn="l">
              <a:lnSpc>
                <a:spcPct val="115000"/>
              </a:lnSpc>
              <a:spcAft>
                <a:spcPts val="300"/>
              </a:spcAft>
            </a:pPr>
            <a:r>
              <a:rPr lang="vi-VN" sz="1400" b="0" i="0" dirty="0">
                <a:solidFill>
                  <a:srgbClr val="5A6B7B"/>
                </a:solidFill>
                <a:latin typeface="Segoe UI"/>
                <a:cs typeface="Segoe UI"/>
              </a:rPr>
              <a:t>Open-Meteo Historical API (tái phân tích ERA5 — ECMWF), giấy phép CC BY 4.0. Lưu cục bộ dạng cột nén Parquet để truy vấn nhanh.</a:t>
            </a:r>
          </a:p>
        </p:txBody>
      </p:sp>
      <p:sp>
        <p:nvSpPr>
          <p:cNvPr id="76" name="s"/>
          <p:cNvSpPr/>
          <p:nvPr/>
        </p:nvSpPr>
        <p:spPr>
          <a:xfrm>
            <a:off x="548640" y="5486400"/>
            <a:ext cx="2497226" cy="384048"/>
          </a:xfrm>
          <a:prstGeom prst="roundRect">
            <a:avLst/>
          </a:prstGeom>
          <a:solidFill>
            <a:srgbClr val="E8F3FC"/>
          </a:solidFill>
          <a:ln w="12700">
            <a:solidFill>
              <a:srgbClr val="D7E3EF"/>
            </a:solidFill>
          </a:ln>
        </p:spPr>
        <p:txBody>
          <a:bodyPr/>
          <a:lstStyle/>
          <a:p>
            <a:endParaRPr/>
          </a:p>
        </p:txBody>
      </p:sp>
      <p:sp>
        <p:nvSpPr>
          <p:cNvPr id="77" name="t"/>
          <p:cNvSpPr txBox="1"/>
          <p:nvPr/>
        </p:nvSpPr>
        <p:spPr>
          <a:xfrm>
            <a:off x="548640" y="5486400"/>
            <a:ext cx="2497226" cy="384048"/>
          </a:xfrm>
          <a:prstGeom prst="rect">
            <a:avLst/>
          </a:prstGeom>
          <a:noFill/>
        </p:spPr>
        <p:txBody>
          <a:bodyPr wrap="square" lIns="63500" tIns="38100" rIns="63500" bIns="38100" anchor="ctr">
            <a:normAutofit/>
          </a:bodyPr>
          <a:lstStyle/>
          <a:p>
            <a:pPr algn="ctr">
              <a:lnSpc>
                <a:spcPct val="100000"/>
              </a:lnSpc>
              <a:spcAft>
                <a:spcPts val="300"/>
              </a:spcAft>
            </a:pPr>
            <a:r>
              <a:rPr lang="vi-VN" sz="1150" b="1" i="0" dirty="0">
                <a:solidFill>
                  <a:srgbClr val="005BA1"/>
                </a:solidFill>
                <a:latin typeface="Segoe UI"/>
                <a:cs typeface="Segoe UI"/>
              </a:rPr>
              <a:t>temperature_2m_max/min/mean</a:t>
            </a:r>
          </a:p>
        </p:txBody>
      </p:sp>
      <p:sp>
        <p:nvSpPr>
          <p:cNvPr id="78" name="s"/>
          <p:cNvSpPr/>
          <p:nvPr/>
        </p:nvSpPr>
        <p:spPr>
          <a:xfrm>
            <a:off x="3210458" y="5486400"/>
            <a:ext cx="1646834" cy="384048"/>
          </a:xfrm>
          <a:prstGeom prst="roundRect">
            <a:avLst/>
          </a:prstGeom>
          <a:solidFill>
            <a:srgbClr val="E8F3FC"/>
          </a:solidFill>
          <a:ln w="12700">
            <a:solidFill>
              <a:srgbClr val="D7E3EF"/>
            </a:solidFill>
          </a:ln>
        </p:spPr>
        <p:txBody>
          <a:bodyPr/>
          <a:lstStyle/>
          <a:p>
            <a:endParaRPr/>
          </a:p>
        </p:txBody>
      </p:sp>
      <p:sp>
        <p:nvSpPr>
          <p:cNvPr id="79" name="t"/>
          <p:cNvSpPr txBox="1"/>
          <p:nvPr/>
        </p:nvSpPr>
        <p:spPr>
          <a:xfrm>
            <a:off x="3210458" y="5486400"/>
            <a:ext cx="1646834" cy="384048"/>
          </a:xfrm>
          <a:prstGeom prst="rect">
            <a:avLst/>
          </a:prstGeom>
          <a:noFill/>
        </p:spPr>
        <p:txBody>
          <a:bodyPr wrap="square" lIns="63500" tIns="38100" rIns="63500" bIns="38100" anchor="ctr">
            <a:normAutofit/>
          </a:bodyPr>
          <a:lstStyle/>
          <a:p>
            <a:pPr algn="ctr">
              <a:lnSpc>
                <a:spcPct val="100000"/>
              </a:lnSpc>
              <a:spcAft>
                <a:spcPts val="300"/>
              </a:spcAft>
            </a:pPr>
            <a:r>
              <a:rPr lang="vi-VN" sz="1150" b="1" i="0" dirty="0">
                <a:solidFill>
                  <a:srgbClr val="005BA1"/>
                </a:solidFill>
                <a:latin typeface="Segoe UI"/>
                <a:cs typeface="Segoe UI"/>
              </a:rPr>
              <a:t>precipitation_sum</a:t>
            </a:r>
          </a:p>
        </p:txBody>
      </p:sp>
      <p:sp>
        <p:nvSpPr>
          <p:cNvPr id="80" name="s"/>
          <p:cNvSpPr/>
          <p:nvPr/>
        </p:nvSpPr>
        <p:spPr>
          <a:xfrm>
            <a:off x="5021885" y="5486400"/>
            <a:ext cx="1731874" cy="384048"/>
          </a:xfrm>
          <a:prstGeom prst="roundRect">
            <a:avLst/>
          </a:prstGeom>
          <a:solidFill>
            <a:srgbClr val="E8F3FC"/>
          </a:solidFill>
          <a:ln w="12700">
            <a:solidFill>
              <a:srgbClr val="D7E3EF"/>
            </a:solidFill>
          </a:ln>
        </p:spPr>
        <p:txBody>
          <a:bodyPr/>
          <a:lstStyle/>
          <a:p>
            <a:endParaRPr/>
          </a:p>
        </p:txBody>
      </p:sp>
      <p:sp>
        <p:nvSpPr>
          <p:cNvPr id="81" name="t"/>
          <p:cNvSpPr txBox="1"/>
          <p:nvPr/>
        </p:nvSpPr>
        <p:spPr>
          <a:xfrm>
            <a:off x="5021885" y="5486400"/>
            <a:ext cx="1731874" cy="384048"/>
          </a:xfrm>
          <a:prstGeom prst="rect">
            <a:avLst/>
          </a:prstGeom>
          <a:noFill/>
        </p:spPr>
        <p:txBody>
          <a:bodyPr wrap="square" lIns="63500" tIns="38100" rIns="63500" bIns="38100" anchor="ctr">
            <a:normAutofit/>
          </a:bodyPr>
          <a:lstStyle/>
          <a:p>
            <a:pPr algn="ctr">
              <a:lnSpc>
                <a:spcPct val="100000"/>
              </a:lnSpc>
              <a:spcAft>
                <a:spcPts val="300"/>
              </a:spcAft>
            </a:pPr>
            <a:r>
              <a:rPr lang="vi-VN" sz="1150" b="1" i="0" dirty="0">
                <a:solidFill>
                  <a:srgbClr val="005BA1"/>
                </a:solidFill>
                <a:latin typeface="Segoe UI"/>
                <a:cs typeface="Segoe UI"/>
              </a:rPr>
              <a:t>wind_speed_10m_max</a:t>
            </a:r>
          </a:p>
        </p:txBody>
      </p:sp>
      <p:sp>
        <p:nvSpPr>
          <p:cNvPr id="82" name="s"/>
          <p:cNvSpPr/>
          <p:nvPr/>
        </p:nvSpPr>
        <p:spPr>
          <a:xfrm>
            <a:off x="6918350" y="5486400"/>
            <a:ext cx="2157070" cy="384048"/>
          </a:xfrm>
          <a:prstGeom prst="roundRect">
            <a:avLst/>
          </a:prstGeom>
          <a:solidFill>
            <a:srgbClr val="E8F3FC"/>
          </a:solidFill>
          <a:ln w="12700">
            <a:solidFill>
              <a:srgbClr val="D7E3EF"/>
            </a:solidFill>
          </a:ln>
        </p:spPr>
        <p:txBody>
          <a:bodyPr/>
          <a:lstStyle/>
          <a:p>
            <a:endParaRPr/>
          </a:p>
        </p:txBody>
      </p:sp>
      <p:sp>
        <p:nvSpPr>
          <p:cNvPr id="83" name="t"/>
          <p:cNvSpPr txBox="1"/>
          <p:nvPr/>
        </p:nvSpPr>
        <p:spPr>
          <a:xfrm>
            <a:off x="6918350" y="5486400"/>
            <a:ext cx="2157070" cy="384048"/>
          </a:xfrm>
          <a:prstGeom prst="rect">
            <a:avLst/>
          </a:prstGeom>
          <a:noFill/>
        </p:spPr>
        <p:txBody>
          <a:bodyPr wrap="square" lIns="63500" tIns="38100" rIns="63500" bIns="38100" anchor="ctr">
            <a:normAutofit/>
          </a:bodyPr>
          <a:lstStyle/>
          <a:p>
            <a:pPr algn="ctr">
              <a:lnSpc>
                <a:spcPct val="100000"/>
              </a:lnSpc>
              <a:spcAft>
                <a:spcPts val="300"/>
              </a:spcAft>
            </a:pPr>
            <a:r>
              <a:rPr lang="vi-VN" sz="1150" b="1" i="0" dirty="0">
                <a:solidFill>
                  <a:srgbClr val="005BA1"/>
                </a:solidFill>
                <a:latin typeface="Segoe UI"/>
                <a:cs typeface="Segoe UI"/>
              </a:rPr>
              <a:t>shortwave_radiation_sum</a:t>
            </a:r>
          </a:p>
        </p:txBody>
      </p:sp>
      <p:sp>
        <p:nvSpPr>
          <p:cNvPr id="84" name="s"/>
          <p:cNvSpPr/>
          <p:nvPr/>
        </p:nvSpPr>
        <p:spPr>
          <a:xfrm>
            <a:off x="9240012" y="5486400"/>
            <a:ext cx="2072030" cy="384048"/>
          </a:xfrm>
          <a:prstGeom prst="roundRect">
            <a:avLst/>
          </a:prstGeom>
          <a:solidFill>
            <a:srgbClr val="E8F3FC"/>
          </a:solidFill>
          <a:ln w="12700">
            <a:solidFill>
              <a:srgbClr val="D7E3EF"/>
            </a:solidFill>
          </a:ln>
        </p:spPr>
        <p:txBody>
          <a:bodyPr/>
          <a:lstStyle/>
          <a:p>
            <a:endParaRPr/>
          </a:p>
        </p:txBody>
      </p:sp>
      <p:sp>
        <p:nvSpPr>
          <p:cNvPr id="85" name="t"/>
          <p:cNvSpPr txBox="1"/>
          <p:nvPr/>
        </p:nvSpPr>
        <p:spPr>
          <a:xfrm>
            <a:off x="9240012" y="5486400"/>
            <a:ext cx="2072030" cy="384048"/>
          </a:xfrm>
          <a:prstGeom prst="rect">
            <a:avLst/>
          </a:prstGeom>
          <a:noFill/>
        </p:spPr>
        <p:txBody>
          <a:bodyPr wrap="square" lIns="63500" tIns="38100" rIns="63500" bIns="38100" anchor="ctr">
            <a:normAutofit/>
          </a:bodyPr>
          <a:lstStyle/>
          <a:p>
            <a:pPr algn="ctr">
              <a:lnSpc>
                <a:spcPct val="100000"/>
              </a:lnSpc>
              <a:spcAft>
                <a:spcPts val="300"/>
              </a:spcAft>
            </a:pPr>
            <a:r>
              <a:rPr lang="vi-VN" sz="1150" b="1" i="0" dirty="0">
                <a:solidFill>
                  <a:srgbClr val="005BA1"/>
                </a:solidFill>
                <a:latin typeface="Segoe UI"/>
                <a:cs typeface="Segoe UI"/>
              </a:rPr>
              <a:t>region (Bắc/Trung/Nam)</a:t>
            </a:r>
          </a:p>
        </p:txBody>
      </p:sp>
      <p:sp>
        <p:nvSpPr>
          <p:cNvPr id="86" name="s"/>
          <p:cNvSpPr/>
          <p:nvPr/>
        </p:nvSpPr>
        <p:spPr>
          <a:xfrm>
            <a:off x="548640" y="6327648"/>
            <a:ext cx="11091672" cy="12802"/>
          </a:xfrm>
          <a:prstGeom prst="rect">
            <a:avLst/>
          </a:prstGeom>
          <a:solidFill>
            <a:srgbClr val="D7E3EF"/>
          </a:solidFill>
          <a:ln>
            <a:noFill/>
          </a:ln>
        </p:spPr>
        <p:txBody>
          <a:bodyPr/>
          <a:lstStyle/>
          <a:p>
            <a:endParaRPr/>
          </a:p>
        </p:txBody>
      </p:sp>
      <p:sp>
        <p:nvSpPr>
          <p:cNvPr id="87" name="t"/>
          <p:cNvSpPr txBox="1"/>
          <p:nvPr/>
        </p:nvSpPr>
        <p:spPr>
          <a:xfrm>
            <a:off x="548640" y="6373368"/>
            <a:ext cx="8229600" cy="320040"/>
          </a:xfrm>
          <a:prstGeom prst="rect">
            <a:avLst/>
          </a:prstGeom>
          <a:noFill/>
        </p:spPr>
        <p:txBody>
          <a:bodyPr wrap="square" lIns="63500" tIns="38100" rIns="63500" bIns="38100" anchor="ctr">
            <a:normAutofit/>
          </a:bodyPr>
          <a:lstStyle/>
          <a:p>
            <a:pPr algn="l">
              <a:lnSpc>
                <a:spcPct val="100000"/>
              </a:lnSpc>
              <a:spcAft>
                <a:spcPts val="300"/>
              </a:spcAft>
            </a:pPr>
            <a:r>
              <a:rPr lang="vi-VN" sz="1200" b="1" i="0" dirty="0">
                <a:solidFill>
                  <a:srgbClr val="005BA1"/>
                </a:solidFill>
                <a:latin typeface="Segoe UI"/>
                <a:cs typeface="Segoe UI"/>
              </a:rPr>
              <a:t>Dữ liệu</a:t>
            </a:r>
          </a:p>
        </p:txBody>
      </p:sp>
      <p:sp>
        <p:nvSpPr>
          <p:cNvPr id="88" name="t"/>
          <p:cNvSpPr txBox="1"/>
          <p:nvPr/>
        </p:nvSpPr>
        <p:spPr>
          <a:xfrm>
            <a:off x="10515600" y="6373368"/>
            <a:ext cx="1124712" cy="320040"/>
          </a:xfrm>
          <a:prstGeom prst="rect">
            <a:avLst/>
          </a:prstGeom>
          <a:noFill/>
        </p:spPr>
        <p:txBody>
          <a:bodyPr wrap="square" lIns="63500" tIns="38100" rIns="63500" bIns="38100" anchor="ctr">
            <a:normAutofit/>
          </a:bodyPr>
          <a:lstStyle/>
          <a:p>
            <a:pPr algn="r">
              <a:lnSpc>
                <a:spcPct val="100000"/>
              </a:lnSpc>
              <a:spcAft>
                <a:spcPts val="300"/>
              </a:spcAft>
            </a:pPr>
            <a:r>
              <a:rPr lang="vi-VN" sz="1300" b="1" i="0" dirty="0">
                <a:solidFill>
                  <a:srgbClr val="002B5C"/>
                </a:solidFill>
                <a:latin typeface="Segoe UI"/>
                <a:cs typeface="Segoe U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
          <p:cNvSpPr/>
          <p:nvPr/>
        </p:nvSpPr>
        <p:spPr>
          <a:xfrm>
            <a:off x="0" y="0"/>
            <a:ext cx="12191695" cy="100584"/>
          </a:xfrm>
          <a:prstGeom prst="rect">
            <a:avLst/>
          </a:prstGeom>
          <a:solidFill>
            <a:srgbClr val="0070C0"/>
          </a:solidFill>
          <a:ln>
            <a:noFill/>
          </a:ln>
        </p:spPr>
        <p:txBody>
          <a:bodyPr/>
          <a:lstStyle/>
          <a:p>
            <a:endParaRPr/>
          </a:p>
        </p:txBody>
      </p:sp>
      <p:sp>
        <p:nvSpPr>
          <p:cNvPr id="90" name="t"/>
          <p:cNvSpPr txBox="1"/>
          <p:nvPr/>
        </p:nvSpPr>
        <p:spPr>
          <a:xfrm>
            <a:off x="548640" y="384048"/>
            <a:ext cx="10058400" cy="274320"/>
          </a:xfrm>
          <a:prstGeom prst="rect">
            <a:avLst/>
          </a:prstGeom>
          <a:noFill/>
        </p:spPr>
        <p:txBody>
          <a:bodyPr wrap="square" lIns="63500" tIns="38100" rIns="63500" bIns="38100" anchor="t">
            <a:normAutofit/>
          </a:bodyPr>
          <a:lstStyle/>
          <a:p>
            <a:pPr algn="l">
              <a:lnSpc>
                <a:spcPct val="100000"/>
              </a:lnSpc>
              <a:spcAft>
                <a:spcPts val="300"/>
              </a:spcAft>
            </a:pPr>
            <a:r>
              <a:rPr lang="vi-VN" sz="1150" b="1" i="0" dirty="0">
                <a:solidFill>
                  <a:srgbClr val="0070C0"/>
                </a:solidFill>
                <a:latin typeface="Segoe UI"/>
                <a:cs typeface="Segoe UI"/>
              </a:rPr>
              <a:t>PHƯƠNG PHÁP &amp; KIẾN TRÚC</a:t>
            </a:r>
          </a:p>
        </p:txBody>
      </p:sp>
      <p:sp>
        <p:nvSpPr>
          <p:cNvPr id="91" name="t"/>
          <p:cNvSpPr txBox="1"/>
          <p:nvPr/>
        </p:nvSpPr>
        <p:spPr>
          <a:xfrm>
            <a:off x="548640" y="658368"/>
            <a:ext cx="10972800" cy="640080"/>
          </a:xfrm>
          <a:prstGeom prst="rect">
            <a:avLst/>
          </a:prstGeom>
          <a:noFill/>
        </p:spPr>
        <p:txBody>
          <a:bodyPr wrap="square" lIns="63500" tIns="38100" rIns="63500" bIns="38100" anchor="t">
            <a:normAutofit/>
          </a:bodyPr>
          <a:lstStyle/>
          <a:p>
            <a:pPr algn="l">
              <a:lnSpc>
                <a:spcPct val="100000"/>
              </a:lnSpc>
              <a:spcAft>
                <a:spcPts val="300"/>
              </a:spcAft>
            </a:pPr>
            <a:r>
              <a:rPr lang="vi-VN" sz="2500" b="1" i="0" dirty="0">
                <a:solidFill>
                  <a:srgbClr val="002B5C"/>
                </a:solidFill>
                <a:latin typeface="Segoe UI"/>
                <a:cs typeface="Segoe UI"/>
              </a:rPr>
              <a:t>Local-first: nhẹ, nhanh, an toàn</a:t>
            </a:r>
          </a:p>
        </p:txBody>
      </p:sp>
      <p:sp>
        <p:nvSpPr>
          <p:cNvPr id="92" name="s"/>
          <p:cNvSpPr/>
          <p:nvPr/>
        </p:nvSpPr>
        <p:spPr>
          <a:xfrm>
            <a:off x="566928" y="1298448"/>
            <a:ext cx="822960" cy="45720"/>
          </a:xfrm>
          <a:prstGeom prst="rect">
            <a:avLst/>
          </a:prstGeom>
          <a:solidFill>
            <a:srgbClr val="0070C0"/>
          </a:solidFill>
          <a:ln>
            <a:noFill/>
          </a:ln>
        </p:spPr>
        <p:txBody>
          <a:bodyPr/>
          <a:lstStyle/>
          <a:p>
            <a:endParaRPr/>
          </a:p>
        </p:txBody>
      </p:sp>
      <p:sp>
        <p:nvSpPr>
          <p:cNvPr id="93" name="s"/>
          <p:cNvSpPr/>
          <p:nvPr/>
        </p:nvSpPr>
        <p:spPr>
          <a:xfrm>
            <a:off x="548640" y="1783080"/>
            <a:ext cx="1965960" cy="1051560"/>
          </a:xfrm>
          <a:prstGeom prst="roundRect">
            <a:avLst/>
          </a:prstGeom>
          <a:solidFill>
            <a:srgbClr val="E8F3FC"/>
          </a:solidFill>
          <a:ln w="12700">
            <a:solidFill>
              <a:srgbClr val="D7E3EF"/>
            </a:solidFill>
          </a:ln>
        </p:spPr>
        <p:txBody>
          <a:bodyPr/>
          <a:lstStyle/>
          <a:p>
            <a:endParaRPr/>
          </a:p>
        </p:txBody>
      </p:sp>
      <p:sp>
        <p:nvSpPr>
          <p:cNvPr id="94" name="t"/>
          <p:cNvSpPr txBox="1"/>
          <p:nvPr/>
        </p:nvSpPr>
        <p:spPr>
          <a:xfrm>
            <a:off x="603504" y="1911096"/>
            <a:ext cx="1856232" cy="365760"/>
          </a:xfrm>
          <a:prstGeom prst="rect">
            <a:avLst/>
          </a:prstGeom>
          <a:noFill/>
        </p:spPr>
        <p:txBody>
          <a:bodyPr wrap="square" lIns="63500" tIns="38100" rIns="63500" bIns="38100" anchor="t">
            <a:normAutofit/>
          </a:bodyPr>
          <a:lstStyle/>
          <a:p>
            <a:pPr algn="ctr">
              <a:lnSpc>
                <a:spcPct val="100000"/>
              </a:lnSpc>
              <a:spcAft>
                <a:spcPts val="300"/>
              </a:spcAft>
            </a:pPr>
            <a:r>
              <a:rPr lang="vi-VN" sz="1300" b="1" i="0" dirty="0">
                <a:solidFill>
                  <a:srgbClr val="005BA1"/>
                </a:solidFill>
                <a:latin typeface="Segoe UI"/>
                <a:cs typeface="Segoe UI"/>
              </a:rPr>
              <a:t>Open-Meteo API</a:t>
            </a:r>
          </a:p>
        </p:txBody>
      </p:sp>
      <p:sp>
        <p:nvSpPr>
          <p:cNvPr id="95" name="t"/>
          <p:cNvSpPr txBox="1"/>
          <p:nvPr/>
        </p:nvSpPr>
        <p:spPr>
          <a:xfrm>
            <a:off x="603504" y="2286000"/>
            <a:ext cx="1856232" cy="457200"/>
          </a:xfrm>
          <a:prstGeom prst="rect">
            <a:avLst/>
          </a:prstGeom>
          <a:noFill/>
        </p:spPr>
        <p:txBody>
          <a:bodyPr wrap="square" lIns="63500" tIns="38100" rIns="63500" bIns="38100" anchor="t">
            <a:normAutofit/>
          </a:bodyPr>
          <a:lstStyle/>
          <a:p>
            <a:pPr algn="ctr">
              <a:lnSpc>
                <a:spcPct val="100000"/>
              </a:lnSpc>
              <a:spcAft>
                <a:spcPts val="300"/>
              </a:spcAft>
            </a:pPr>
            <a:r>
              <a:rPr lang="vi-VN" sz="1050" b="0" i="0" dirty="0">
                <a:solidFill>
                  <a:srgbClr val="5A6B7B"/>
                </a:solidFill>
                <a:latin typeface="Segoe UI"/>
                <a:cs typeface="Segoe UI"/>
              </a:rPr>
              <a:t>Thu thập tự động</a:t>
            </a:r>
          </a:p>
        </p:txBody>
      </p:sp>
      <p:sp>
        <p:nvSpPr>
          <p:cNvPr id="96" name="t"/>
          <p:cNvSpPr txBox="1"/>
          <p:nvPr/>
        </p:nvSpPr>
        <p:spPr>
          <a:xfrm>
            <a:off x="2514600" y="1783080"/>
            <a:ext cx="292608" cy="1051560"/>
          </a:xfrm>
          <a:prstGeom prst="rect">
            <a:avLst/>
          </a:prstGeom>
          <a:noFill/>
        </p:spPr>
        <p:txBody>
          <a:bodyPr wrap="square" lIns="63500" tIns="38100" rIns="63500" bIns="38100" anchor="ctr">
            <a:normAutofit/>
          </a:bodyPr>
          <a:lstStyle/>
          <a:p>
            <a:pPr algn="ctr">
              <a:lnSpc>
                <a:spcPct val="100000"/>
              </a:lnSpc>
              <a:spcAft>
                <a:spcPts val="300"/>
              </a:spcAft>
            </a:pPr>
            <a:r>
              <a:rPr lang="vi-VN" sz="2000" b="1" i="0" dirty="0">
                <a:solidFill>
                  <a:srgbClr val="0070C0"/>
                </a:solidFill>
                <a:latin typeface="Segoe UI"/>
                <a:cs typeface="Segoe UI"/>
              </a:rPr>
              <a:t>→</a:t>
            </a:r>
          </a:p>
        </p:txBody>
      </p:sp>
      <p:sp>
        <p:nvSpPr>
          <p:cNvPr id="97" name="s"/>
          <p:cNvSpPr/>
          <p:nvPr/>
        </p:nvSpPr>
        <p:spPr>
          <a:xfrm>
            <a:off x="2807208" y="1783080"/>
            <a:ext cx="1965960" cy="1051560"/>
          </a:xfrm>
          <a:prstGeom prst="roundRect">
            <a:avLst/>
          </a:prstGeom>
          <a:solidFill>
            <a:srgbClr val="E8F3FC"/>
          </a:solidFill>
          <a:ln w="12700">
            <a:solidFill>
              <a:srgbClr val="D7E3EF"/>
            </a:solidFill>
          </a:ln>
        </p:spPr>
        <p:txBody>
          <a:bodyPr/>
          <a:lstStyle/>
          <a:p>
            <a:endParaRPr/>
          </a:p>
        </p:txBody>
      </p:sp>
      <p:sp>
        <p:nvSpPr>
          <p:cNvPr id="98" name="t"/>
          <p:cNvSpPr txBox="1"/>
          <p:nvPr/>
        </p:nvSpPr>
        <p:spPr>
          <a:xfrm>
            <a:off x="2862072" y="1911096"/>
            <a:ext cx="1856232" cy="365760"/>
          </a:xfrm>
          <a:prstGeom prst="rect">
            <a:avLst/>
          </a:prstGeom>
          <a:noFill/>
        </p:spPr>
        <p:txBody>
          <a:bodyPr wrap="square" lIns="63500" tIns="38100" rIns="63500" bIns="38100" anchor="t">
            <a:normAutofit/>
          </a:bodyPr>
          <a:lstStyle/>
          <a:p>
            <a:pPr algn="ctr">
              <a:lnSpc>
                <a:spcPct val="100000"/>
              </a:lnSpc>
              <a:spcAft>
                <a:spcPts val="300"/>
              </a:spcAft>
            </a:pPr>
            <a:r>
              <a:rPr lang="vi-VN" sz="1300" b="1" i="0" dirty="0">
                <a:solidFill>
                  <a:srgbClr val="005BA1"/>
                </a:solidFill>
                <a:latin typeface="Segoe UI"/>
                <a:cs typeface="Segoe UI"/>
              </a:rPr>
              <a:t>Pipeline Python</a:t>
            </a:r>
          </a:p>
        </p:txBody>
      </p:sp>
      <p:sp>
        <p:nvSpPr>
          <p:cNvPr id="99" name="t"/>
          <p:cNvSpPr txBox="1"/>
          <p:nvPr/>
        </p:nvSpPr>
        <p:spPr>
          <a:xfrm>
            <a:off x="2862072" y="2286000"/>
            <a:ext cx="1856232" cy="457200"/>
          </a:xfrm>
          <a:prstGeom prst="rect">
            <a:avLst/>
          </a:prstGeom>
          <a:noFill/>
        </p:spPr>
        <p:txBody>
          <a:bodyPr wrap="square" lIns="63500" tIns="38100" rIns="63500" bIns="38100" anchor="t">
            <a:normAutofit/>
          </a:bodyPr>
          <a:lstStyle/>
          <a:p>
            <a:pPr algn="ctr">
              <a:lnSpc>
                <a:spcPct val="100000"/>
              </a:lnSpc>
              <a:spcAft>
                <a:spcPts val="300"/>
              </a:spcAft>
            </a:pPr>
            <a:r>
              <a:rPr lang="vi-VN" sz="1050" b="0" i="0" dirty="0">
                <a:solidFill>
                  <a:srgbClr val="5A6B7B"/>
                </a:solidFill>
                <a:latin typeface="Segoe UI"/>
                <a:cs typeface="Segoe UI"/>
              </a:rPr>
              <a:t>Làm sạch · vùng miền</a:t>
            </a:r>
          </a:p>
        </p:txBody>
      </p:sp>
      <p:sp>
        <p:nvSpPr>
          <p:cNvPr id="100" name="t"/>
          <p:cNvSpPr txBox="1"/>
          <p:nvPr/>
        </p:nvSpPr>
        <p:spPr>
          <a:xfrm>
            <a:off x="4773168" y="1783080"/>
            <a:ext cx="292608" cy="1051560"/>
          </a:xfrm>
          <a:prstGeom prst="rect">
            <a:avLst/>
          </a:prstGeom>
          <a:noFill/>
        </p:spPr>
        <p:txBody>
          <a:bodyPr wrap="square" lIns="63500" tIns="38100" rIns="63500" bIns="38100" anchor="ctr">
            <a:normAutofit/>
          </a:bodyPr>
          <a:lstStyle/>
          <a:p>
            <a:pPr algn="ctr">
              <a:lnSpc>
                <a:spcPct val="100000"/>
              </a:lnSpc>
              <a:spcAft>
                <a:spcPts val="300"/>
              </a:spcAft>
            </a:pPr>
            <a:r>
              <a:rPr lang="vi-VN" sz="2000" b="1" i="0" dirty="0">
                <a:solidFill>
                  <a:srgbClr val="0070C0"/>
                </a:solidFill>
                <a:latin typeface="Segoe UI"/>
                <a:cs typeface="Segoe UI"/>
              </a:rPr>
              <a:t>→</a:t>
            </a:r>
          </a:p>
        </p:txBody>
      </p:sp>
      <p:sp>
        <p:nvSpPr>
          <p:cNvPr id="101" name="s"/>
          <p:cNvSpPr/>
          <p:nvPr/>
        </p:nvSpPr>
        <p:spPr>
          <a:xfrm>
            <a:off x="5065776" y="1783080"/>
            <a:ext cx="1965960" cy="1051560"/>
          </a:xfrm>
          <a:prstGeom prst="roundRect">
            <a:avLst/>
          </a:prstGeom>
          <a:solidFill>
            <a:srgbClr val="E8F3FC"/>
          </a:solidFill>
          <a:ln w="12700">
            <a:solidFill>
              <a:srgbClr val="D7E3EF"/>
            </a:solidFill>
          </a:ln>
        </p:spPr>
        <p:txBody>
          <a:bodyPr/>
          <a:lstStyle/>
          <a:p>
            <a:endParaRPr/>
          </a:p>
        </p:txBody>
      </p:sp>
      <p:sp>
        <p:nvSpPr>
          <p:cNvPr id="102" name="t"/>
          <p:cNvSpPr txBox="1"/>
          <p:nvPr/>
        </p:nvSpPr>
        <p:spPr>
          <a:xfrm>
            <a:off x="5120640" y="1911096"/>
            <a:ext cx="1856232" cy="365760"/>
          </a:xfrm>
          <a:prstGeom prst="rect">
            <a:avLst/>
          </a:prstGeom>
          <a:noFill/>
        </p:spPr>
        <p:txBody>
          <a:bodyPr wrap="square" lIns="63500" tIns="38100" rIns="63500" bIns="38100" anchor="t">
            <a:normAutofit/>
          </a:bodyPr>
          <a:lstStyle/>
          <a:p>
            <a:pPr algn="ctr">
              <a:lnSpc>
                <a:spcPct val="100000"/>
              </a:lnSpc>
              <a:spcAft>
                <a:spcPts val="300"/>
              </a:spcAft>
            </a:pPr>
            <a:r>
              <a:rPr lang="vi-VN" sz="1300" b="1" i="0" dirty="0">
                <a:solidFill>
                  <a:srgbClr val="0070C0"/>
                </a:solidFill>
                <a:latin typeface="Segoe UI"/>
                <a:cs typeface="Segoe UI"/>
              </a:rPr>
              <a:t>Parquet + DuckDB</a:t>
            </a:r>
          </a:p>
        </p:txBody>
      </p:sp>
      <p:sp>
        <p:nvSpPr>
          <p:cNvPr id="103" name="t"/>
          <p:cNvSpPr txBox="1"/>
          <p:nvPr/>
        </p:nvSpPr>
        <p:spPr>
          <a:xfrm>
            <a:off x="5120640" y="2286000"/>
            <a:ext cx="1856232" cy="457200"/>
          </a:xfrm>
          <a:prstGeom prst="rect">
            <a:avLst/>
          </a:prstGeom>
          <a:noFill/>
        </p:spPr>
        <p:txBody>
          <a:bodyPr wrap="square" lIns="63500" tIns="38100" rIns="63500" bIns="38100" anchor="t">
            <a:normAutofit/>
          </a:bodyPr>
          <a:lstStyle/>
          <a:p>
            <a:pPr algn="ctr">
              <a:lnSpc>
                <a:spcPct val="100000"/>
              </a:lnSpc>
              <a:spcAft>
                <a:spcPts val="300"/>
              </a:spcAft>
            </a:pPr>
            <a:r>
              <a:rPr lang="vi-VN" sz="1050" b="0" i="0" dirty="0">
                <a:solidFill>
                  <a:srgbClr val="5A6B7B"/>
                </a:solidFill>
                <a:latin typeface="Segoe UI"/>
                <a:cs typeface="Segoe UI"/>
              </a:rPr>
              <a:t>Truy vấn &lt; 5 ms</a:t>
            </a:r>
          </a:p>
        </p:txBody>
      </p:sp>
      <p:sp>
        <p:nvSpPr>
          <p:cNvPr id="104" name="t"/>
          <p:cNvSpPr txBox="1"/>
          <p:nvPr/>
        </p:nvSpPr>
        <p:spPr>
          <a:xfrm>
            <a:off x="7031736" y="1783080"/>
            <a:ext cx="292608" cy="1051560"/>
          </a:xfrm>
          <a:prstGeom prst="rect">
            <a:avLst/>
          </a:prstGeom>
          <a:noFill/>
        </p:spPr>
        <p:txBody>
          <a:bodyPr wrap="square" lIns="63500" tIns="38100" rIns="63500" bIns="38100" anchor="ctr">
            <a:normAutofit/>
          </a:bodyPr>
          <a:lstStyle/>
          <a:p>
            <a:pPr algn="ctr">
              <a:lnSpc>
                <a:spcPct val="100000"/>
              </a:lnSpc>
              <a:spcAft>
                <a:spcPts val="300"/>
              </a:spcAft>
            </a:pPr>
            <a:r>
              <a:rPr lang="vi-VN" sz="2000" b="1" i="0" dirty="0">
                <a:solidFill>
                  <a:srgbClr val="0070C0"/>
                </a:solidFill>
                <a:latin typeface="Segoe UI"/>
                <a:cs typeface="Segoe UI"/>
              </a:rPr>
              <a:t>→</a:t>
            </a:r>
          </a:p>
        </p:txBody>
      </p:sp>
      <p:sp>
        <p:nvSpPr>
          <p:cNvPr id="105" name="s"/>
          <p:cNvSpPr/>
          <p:nvPr/>
        </p:nvSpPr>
        <p:spPr>
          <a:xfrm>
            <a:off x="7324344" y="1783080"/>
            <a:ext cx="1965960" cy="1051560"/>
          </a:xfrm>
          <a:prstGeom prst="roundRect">
            <a:avLst/>
          </a:prstGeom>
          <a:solidFill>
            <a:srgbClr val="E8F3FC"/>
          </a:solidFill>
          <a:ln w="12700">
            <a:solidFill>
              <a:srgbClr val="D7E3EF"/>
            </a:solidFill>
          </a:ln>
        </p:spPr>
        <p:txBody>
          <a:bodyPr/>
          <a:lstStyle/>
          <a:p>
            <a:endParaRPr/>
          </a:p>
        </p:txBody>
      </p:sp>
      <p:sp>
        <p:nvSpPr>
          <p:cNvPr id="106" name="t"/>
          <p:cNvSpPr txBox="1"/>
          <p:nvPr/>
        </p:nvSpPr>
        <p:spPr>
          <a:xfrm>
            <a:off x="7379208" y="1911096"/>
            <a:ext cx="1856232" cy="365760"/>
          </a:xfrm>
          <a:prstGeom prst="rect">
            <a:avLst/>
          </a:prstGeom>
          <a:noFill/>
        </p:spPr>
        <p:txBody>
          <a:bodyPr wrap="square" lIns="63500" tIns="38100" rIns="63500" bIns="38100" anchor="t">
            <a:normAutofit/>
          </a:bodyPr>
          <a:lstStyle/>
          <a:p>
            <a:pPr algn="ctr">
              <a:lnSpc>
                <a:spcPct val="100000"/>
              </a:lnSpc>
              <a:spcAft>
                <a:spcPts val="300"/>
              </a:spcAft>
            </a:pPr>
            <a:r>
              <a:rPr lang="vi-VN" sz="1300" b="1" i="0" dirty="0">
                <a:solidFill>
                  <a:srgbClr val="002B5C"/>
                </a:solidFill>
                <a:latin typeface="Segoe UI"/>
                <a:cs typeface="Segoe UI"/>
              </a:rPr>
              <a:t>FastAPI</a:t>
            </a:r>
          </a:p>
        </p:txBody>
      </p:sp>
      <p:sp>
        <p:nvSpPr>
          <p:cNvPr id="107" name="t"/>
          <p:cNvSpPr txBox="1"/>
          <p:nvPr/>
        </p:nvSpPr>
        <p:spPr>
          <a:xfrm>
            <a:off x="7379208" y="2286000"/>
            <a:ext cx="1856232" cy="457200"/>
          </a:xfrm>
          <a:prstGeom prst="rect">
            <a:avLst/>
          </a:prstGeom>
          <a:noFill/>
        </p:spPr>
        <p:txBody>
          <a:bodyPr wrap="square" lIns="63500" tIns="38100" rIns="63500" bIns="38100" anchor="t">
            <a:normAutofit/>
          </a:bodyPr>
          <a:lstStyle/>
          <a:p>
            <a:pPr algn="ctr">
              <a:lnSpc>
                <a:spcPct val="100000"/>
              </a:lnSpc>
              <a:spcAft>
                <a:spcPts val="300"/>
              </a:spcAft>
            </a:pPr>
            <a:r>
              <a:rPr lang="vi-VN" sz="1050" b="0" i="0" dirty="0">
                <a:solidFill>
                  <a:srgbClr val="5A6B7B"/>
                </a:solidFill>
                <a:latin typeface="Segoe UI"/>
                <a:cs typeface="Segoe UI"/>
              </a:rPr>
              <a:t>Tính toán &amp; API</a:t>
            </a:r>
          </a:p>
        </p:txBody>
      </p:sp>
      <p:sp>
        <p:nvSpPr>
          <p:cNvPr id="108" name="t"/>
          <p:cNvSpPr txBox="1"/>
          <p:nvPr/>
        </p:nvSpPr>
        <p:spPr>
          <a:xfrm>
            <a:off x="9290304" y="1783080"/>
            <a:ext cx="292608" cy="1051560"/>
          </a:xfrm>
          <a:prstGeom prst="rect">
            <a:avLst/>
          </a:prstGeom>
          <a:noFill/>
        </p:spPr>
        <p:txBody>
          <a:bodyPr wrap="square" lIns="63500" tIns="38100" rIns="63500" bIns="38100" anchor="ctr">
            <a:normAutofit/>
          </a:bodyPr>
          <a:lstStyle/>
          <a:p>
            <a:pPr algn="ctr">
              <a:lnSpc>
                <a:spcPct val="100000"/>
              </a:lnSpc>
              <a:spcAft>
                <a:spcPts val="300"/>
              </a:spcAft>
            </a:pPr>
            <a:r>
              <a:rPr lang="vi-VN" sz="2000" b="1" i="0" dirty="0">
                <a:solidFill>
                  <a:srgbClr val="0070C0"/>
                </a:solidFill>
                <a:latin typeface="Segoe UI"/>
                <a:cs typeface="Segoe UI"/>
              </a:rPr>
              <a:t>→</a:t>
            </a:r>
          </a:p>
        </p:txBody>
      </p:sp>
      <p:sp>
        <p:nvSpPr>
          <p:cNvPr id="109" name="s"/>
          <p:cNvSpPr/>
          <p:nvPr/>
        </p:nvSpPr>
        <p:spPr>
          <a:xfrm>
            <a:off x="9582912" y="1783080"/>
            <a:ext cx="1965960" cy="1051560"/>
          </a:xfrm>
          <a:prstGeom prst="roundRect">
            <a:avLst/>
          </a:prstGeom>
          <a:solidFill>
            <a:srgbClr val="E8F3FC"/>
          </a:solidFill>
          <a:ln w="12700">
            <a:solidFill>
              <a:srgbClr val="D7E3EF"/>
            </a:solidFill>
          </a:ln>
        </p:spPr>
        <p:txBody>
          <a:bodyPr/>
          <a:lstStyle/>
          <a:p>
            <a:endParaRPr/>
          </a:p>
        </p:txBody>
      </p:sp>
      <p:sp>
        <p:nvSpPr>
          <p:cNvPr id="110" name="t"/>
          <p:cNvSpPr txBox="1"/>
          <p:nvPr/>
        </p:nvSpPr>
        <p:spPr>
          <a:xfrm>
            <a:off x="9637776" y="1911096"/>
            <a:ext cx="1856232" cy="365760"/>
          </a:xfrm>
          <a:prstGeom prst="rect">
            <a:avLst/>
          </a:prstGeom>
          <a:noFill/>
        </p:spPr>
        <p:txBody>
          <a:bodyPr wrap="square" lIns="63500" tIns="38100" rIns="63500" bIns="38100" anchor="t">
            <a:normAutofit/>
          </a:bodyPr>
          <a:lstStyle/>
          <a:p>
            <a:pPr algn="ctr">
              <a:lnSpc>
                <a:spcPct val="100000"/>
              </a:lnSpc>
              <a:spcAft>
                <a:spcPts val="300"/>
              </a:spcAft>
            </a:pPr>
            <a:r>
              <a:rPr lang="vi-VN" sz="1300" b="1" i="0" dirty="0">
                <a:solidFill>
                  <a:srgbClr val="00838F"/>
                </a:solidFill>
                <a:latin typeface="Segoe UI"/>
                <a:cs typeface="Segoe UI"/>
              </a:rPr>
              <a:t>React + ECharts</a:t>
            </a:r>
          </a:p>
        </p:txBody>
      </p:sp>
      <p:sp>
        <p:nvSpPr>
          <p:cNvPr id="111" name="t"/>
          <p:cNvSpPr txBox="1"/>
          <p:nvPr/>
        </p:nvSpPr>
        <p:spPr>
          <a:xfrm>
            <a:off x="9637776" y="2286000"/>
            <a:ext cx="1856232" cy="457200"/>
          </a:xfrm>
          <a:prstGeom prst="rect">
            <a:avLst/>
          </a:prstGeom>
          <a:noFill/>
        </p:spPr>
        <p:txBody>
          <a:bodyPr wrap="square" lIns="63500" tIns="38100" rIns="63500" bIns="38100" anchor="t">
            <a:normAutofit/>
          </a:bodyPr>
          <a:lstStyle/>
          <a:p>
            <a:pPr algn="ctr">
              <a:lnSpc>
                <a:spcPct val="100000"/>
              </a:lnSpc>
              <a:spcAft>
                <a:spcPts val="300"/>
              </a:spcAft>
            </a:pPr>
            <a:r>
              <a:rPr lang="vi-VN" sz="1050" b="0" i="0" dirty="0">
                <a:solidFill>
                  <a:srgbClr val="5A6B7B"/>
                </a:solidFill>
                <a:latin typeface="Segoe UI"/>
                <a:cs typeface="Segoe UI"/>
              </a:rPr>
              <a:t>Dashboard tương tác</a:t>
            </a:r>
          </a:p>
        </p:txBody>
      </p:sp>
      <p:sp>
        <p:nvSpPr>
          <p:cNvPr id="112" name="t"/>
          <p:cNvSpPr txBox="1"/>
          <p:nvPr/>
        </p:nvSpPr>
        <p:spPr>
          <a:xfrm>
            <a:off x="548640" y="3401568"/>
            <a:ext cx="10972800" cy="365760"/>
          </a:xfrm>
          <a:prstGeom prst="rect">
            <a:avLst/>
          </a:prstGeom>
          <a:noFill/>
        </p:spPr>
        <p:txBody>
          <a:bodyPr wrap="square" lIns="63500" tIns="38100" rIns="63500" bIns="38100" anchor="t">
            <a:normAutofit/>
          </a:bodyPr>
          <a:lstStyle/>
          <a:p>
            <a:pPr algn="l">
              <a:lnSpc>
                <a:spcPct val="100000"/>
              </a:lnSpc>
              <a:spcAft>
                <a:spcPts val="300"/>
              </a:spcAft>
            </a:pPr>
            <a:r>
              <a:rPr lang="vi-VN" sz="1500" b="1" i="0" dirty="0">
                <a:solidFill>
                  <a:srgbClr val="005BA1"/>
                </a:solidFill>
                <a:latin typeface="Segoe UI"/>
                <a:cs typeface="Segoe UI"/>
              </a:rPr>
              <a:t>3 phương pháp phân tích</a:t>
            </a:r>
          </a:p>
        </p:txBody>
      </p:sp>
      <p:sp>
        <p:nvSpPr>
          <p:cNvPr id="113" name="s"/>
          <p:cNvSpPr/>
          <p:nvPr/>
        </p:nvSpPr>
        <p:spPr>
          <a:xfrm>
            <a:off x="548640" y="3767328"/>
            <a:ext cx="2674620" cy="384048"/>
          </a:xfrm>
          <a:prstGeom prst="roundRect">
            <a:avLst/>
          </a:prstGeom>
          <a:solidFill>
            <a:srgbClr val="E8F3FC"/>
          </a:solidFill>
          <a:ln w="12700">
            <a:solidFill>
              <a:srgbClr val="D7E3EF"/>
            </a:solidFill>
          </a:ln>
        </p:spPr>
        <p:txBody>
          <a:bodyPr/>
          <a:lstStyle/>
          <a:p>
            <a:endParaRPr/>
          </a:p>
        </p:txBody>
      </p:sp>
      <p:sp>
        <p:nvSpPr>
          <p:cNvPr id="114" name="t"/>
          <p:cNvSpPr txBox="1"/>
          <p:nvPr/>
        </p:nvSpPr>
        <p:spPr>
          <a:xfrm>
            <a:off x="548640" y="3767328"/>
            <a:ext cx="2674620" cy="384048"/>
          </a:xfrm>
          <a:prstGeom prst="rect">
            <a:avLst/>
          </a:prstGeom>
          <a:noFill/>
        </p:spPr>
        <p:txBody>
          <a:bodyPr wrap="square" lIns="63500" tIns="38100" rIns="63500" bIns="38100" anchor="ctr">
            <a:normAutofit/>
          </a:bodyPr>
          <a:lstStyle/>
          <a:p>
            <a:pPr algn="ctr">
              <a:lnSpc>
                <a:spcPct val="100000"/>
              </a:lnSpc>
              <a:spcAft>
                <a:spcPts val="300"/>
              </a:spcAft>
            </a:pPr>
            <a:r>
              <a:rPr lang="vi-VN" sz="1150" b="1" i="0" dirty="0">
                <a:solidFill>
                  <a:srgbClr val="005BA1"/>
                </a:solidFill>
                <a:latin typeface="Segoe UI"/>
                <a:cs typeface="Segoe UI"/>
              </a:rPr>
              <a:t>Thống kê mô tả &amp; gom nhóm</a:t>
            </a:r>
          </a:p>
        </p:txBody>
      </p:sp>
      <p:sp>
        <p:nvSpPr>
          <p:cNvPr id="115" name="s"/>
          <p:cNvSpPr/>
          <p:nvPr/>
        </p:nvSpPr>
        <p:spPr>
          <a:xfrm>
            <a:off x="3406140" y="3767328"/>
            <a:ext cx="2578608" cy="384048"/>
          </a:xfrm>
          <a:prstGeom prst="roundRect">
            <a:avLst/>
          </a:prstGeom>
          <a:solidFill>
            <a:srgbClr val="E8F3FC"/>
          </a:solidFill>
          <a:ln w="12700">
            <a:solidFill>
              <a:srgbClr val="D7E3EF"/>
            </a:solidFill>
          </a:ln>
        </p:spPr>
        <p:txBody>
          <a:bodyPr/>
          <a:lstStyle/>
          <a:p>
            <a:endParaRPr/>
          </a:p>
        </p:txBody>
      </p:sp>
      <p:sp>
        <p:nvSpPr>
          <p:cNvPr id="116" name="t"/>
          <p:cNvSpPr txBox="1"/>
          <p:nvPr/>
        </p:nvSpPr>
        <p:spPr>
          <a:xfrm>
            <a:off x="3406140" y="3767328"/>
            <a:ext cx="2578608" cy="384048"/>
          </a:xfrm>
          <a:prstGeom prst="rect">
            <a:avLst/>
          </a:prstGeom>
          <a:noFill/>
        </p:spPr>
        <p:txBody>
          <a:bodyPr wrap="square" lIns="63500" tIns="38100" rIns="63500" bIns="38100" anchor="ctr">
            <a:normAutofit/>
          </a:bodyPr>
          <a:lstStyle/>
          <a:p>
            <a:pPr algn="ctr">
              <a:lnSpc>
                <a:spcPct val="100000"/>
              </a:lnSpc>
              <a:spcAft>
                <a:spcPts val="300"/>
              </a:spcAft>
            </a:pPr>
            <a:r>
              <a:rPr lang="vi-VN" sz="1150" b="1" i="0" dirty="0">
                <a:solidFill>
                  <a:srgbClr val="005BA1"/>
                </a:solidFill>
                <a:latin typeface="Segoe UI"/>
                <a:cs typeface="Segoe UI"/>
              </a:rPr>
              <a:t>Lọc ngưỡng cực đoan động</a:t>
            </a:r>
          </a:p>
        </p:txBody>
      </p:sp>
      <p:sp>
        <p:nvSpPr>
          <p:cNvPr id="117" name="s"/>
          <p:cNvSpPr/>
          <p:nvPr/>
        </p:nvSpPr>
        <p:spPr>
          <a:xfrm>
            <a:off x="6167628" y="3767328"/>
            <a:ext cx="2770632" cy="384048"/>
          </a:xfrm>
          <a:prstGeom prst="roundRect">
            <a:avLst/>
          </a:prstGeom>
          <a:solidFill>
            <a:srgbClr val="E8F3FC"/>
          </a:solidFill>
          <a:ln w="12700">
            <a:solidFill>
              <a:srgbClr val="D7E3EF"/>
            </a:solidFill>
          </a:ln>
        </p:spPr>
        <p:txBody>
          <a:bodyPr/>
          <a:lstStyle/>
          <a:p>
            <a:endParaRPr/>
          </a:p>
        </p:txBody>
      </p:sp>
      <p:sp>
        <p:nvSpPr>
          <p:cNvPr id="118" name="t"/>
          <p:cNvSpPr txBox="1"/>
          <p:nvPr/>
        </p:nvSpPr>
        <p:spPr>
          <a:xfrm>
            <a:off x="6167628" y="3767328"/>
            <a:ext cx="2770632" cy="384048"/>
          </a:xfrm>
          <a:prstGeom prst="rect">
            <a:avLst/>
          </a:prstGeom>
          <a:noFill/>
        </p:spPr>
        <p:txBody>
          <a:bodyPr wrap="square" lIns="63500" tIns="38100" rIns="63500" bIns="38100" anchor="ctr">
            <a:normAutofit/>
          </a:bodyPr>
          <a:lstStyle/>
          <a:p>
            <a:pPr algn="ctr">
              <a:lnSpc>
                <a:spcPct val="100000"/>
              </a:lnSpc>
              <a:spcAft>
                <a:spcPts val="300"/>
              </a:spcAft>
            </a:pPr>
            <a:r>
              <a:rPr lang="vi-VN" sz="1150" b="1" i="0" dirty="0">
                <a:solidFill>
                  <a:srgbClr val="005BA1"/>
                </a:solidFill>
                <a:latin typeface="Segoe UI"/>
                <a:cs typeface="Segoe UI"/>
              </a:rPr>
              <a:t>Tương quan Pearson đa biến</a:t>
            </a:r>
          </a:p>
        </p:txBody>
      </p:sp>
      <p:sp>
        <p:nvSpPr>
          <p:cNvPr id="119" name="s"/>
          <p:cNvSpPr/>
          <p:nvPr/>
        </p:nvSpPr>
        <p:spPr>
          <a:xfrm>
            <a:off x="548640" y="4526280"/>
            <a:ext cx="11091672" cy="1188720"/>
          </a:xfrm>
          <a:prstGeom prst="roundRect">
            <a:avLst/>
          </a:prstGeom>
          <a:solidFill>
            <a:srgbClr val="E8F3FC"/>
          </a:solidFill>
          <a:ln>
            <a:noFill/>
          </a:ln>
        </p:spPr>
        <p:txBody>
          <a:bodyPr/>
          <a:lstStyle/>
          <a:p>
            <a:endParaRPr/>
          </a:p>
        </p:txBody>
      </p:sp>
      <p:sp>
        <p:nvSpPr>
          <p:cNvPr id="120" name="s"/>
          <p:cNvSpPr/>
          <p:nvPr/>
        </p:nvSpPr>
        <p:spPr>
          <a:xfrm>
            <a:off x="548640" y="4526280"/>
            <a:ext cx="73152" cy="1188720"/>
          </a:xfrm>
          <a:prstGeom prst="rect">
            <a:avLst/>
          </a:prstGeom>
          <a:solidFill>
            <a:srgbClr val="0070C0"/>
          </a:solidFill>
          <a:ln>
            <a:noFill/>
          </a:ln>
        </p:spPr>
        <p:txBody>
          <a:bodyPr/>
          <a:lstStyle/>
          <a:p>
            <a:endParaRPr/>
          </a:p>
        </p:txBody>
      </p:sp>
      <p:sp>
        <p:nvSpPr>
          <p:cNvPr id="121" name="t"/>
          <p:cNvSpPr txBox="1"/>
          <p:nvPr/>
        </p:nvSpPr>
        <p:spPr>
          <a:xfrm>
            <a:off x="822960" y="4681728"/>
            <a:ext cx="10607040" cy="914400"/>
          </a:xfrm>
          <a:prstGeom prst="rect">
            <a:avLst/>
          </a:prstGeom>
          <a:noFill/>
        </p:spPr>
        <p:txBody>
          <a:bodyPr wrap="square" lIns="63500" tIns="38100" rIns="63500" bIns="38100" anchor="t">
            <a:normAutofit/>
          </a:bodyPr>
          <a:lstStyle/>
          <a:p>
            <a:pPr algn="l">
              <a:lnSpc>
                <a:spcPct val="120000"/>
              </a:lnSpc>
              <a:spcAft>
                <a:spcPts val="300"/>
              </a:spcAft>
            </a:pPr>
            <a:r>
              <a:rPr lang="vi-VN" sz="1500" b="1" i="0" dirty="0">
                <a:solidFill>
                  <a:srgbClr val="002B5C"/>
                </a:solidFill>
                <a:latin typeface="Segoe UI"/>
                <a:cs typeface="Segoe UI"/>
              </a:rPr>
              <a:t>Cấu trúc kể chuyện — theo triết lý Shneiderman:</a:t>
            </a:r>
          </a:p>
          <a:p>
            <a:pPr algn="l">
              <a:lnSpc>
                <a:spcPct val="120000"/>
              </a:lnSpc>
              <a:spcAft>
                <a:spcPts val="300"/>
              </a:spcAft>
            </a:pPr>
            <a:r>
              <a:rPr lang="vi-VN" sz="1500" b="0" i="1" dirty="0">
                <a:solidFill>
                  <a:srgbClr val="005BA1"/>
                </a:solidFill>
                <a:latin typeface="Segoe UI"/>
                <a:cs typeface="Segoe UI"/>
              </a:rPr>
              <a:t>Tổng quan trước  →  Lọc &amp; phóng to  →  Chi tiết khi cần.</a:t>
            </a:r>
          </a:p>
        </p:txBody>
      </p:sp>
      <p:sp>
        <p:nvSpPr>
          <p:cNvPr id="122" name="s"/>
          <p:cNvSpPr/>
          <p:nvPr/>
        </p:nvSpPr>
        <p:spPr>
          <a:xfrm>
            <a:off x="548640" y="6327648"/>
            <a:ext cx="11091672" cy="12802"/>
          </a:xfrm>
          <a:prstGeom prst="rect">
            <a:avLst/>
          </a:prstGeom>
          <a:solidFill>
            <a:srgbClr val="D7E3EF"/>
          </a:solidFill>
          <a:ln>
            <a:noFill/>
          </a:ln>
        </p:spPr>
        <p:txBody>
          <a:bodyPr/>
          <a:lstStyle/>
          <a:p>
            <a:endParaRPr/>
          </a:p>
        </p:txBody>
      </p:sp>
      <p:sp>
        <p:nvSpPr>
          <p:cNvPr id="123" name="t"/>
          <p:cNvSpPr txBox="1"/>
          <p:nvPr/>
        </p:nvSpPr>
        <p:spPr>
          <a:xfrm>
            <a:off x="548640" y="6373368"/>
            <a:ext cx="8229600" cy="320040"/>
          </a:xfrm>
          <a:prstGeom prst="rect">
            <a:avLst/>
          </a:prstGeom>
          <a:noFill/>
        </p:spPr>
        <p:txBody>
          <a:bodyPr wrap="square" lIns="63500" tIns="38100" rIns="63500" bIns="38100" anchor="ctr">
            <a:normAutofit/>
          </a:bodyPr>
          <a:lstStyle/>
          <a:p>
            <a:pPr algn="l">
              <a:lnSpc>
                <a:spcPct val="100000"/>
              </a:lnSpc>
              <a:spcAft>
                <a:spcPts val="300"/>
              </a:spcAft>
            </a:pPr>
            <a:r>
              <a:rPr lang="vi-VN" sz="1200" b="1" i="0" dirty="0">
                <a:solidFill>
                  <a:srgbClr val="005BA1"/>
                </a:solidFill>
                <a:latin typeface="Segoe UI"/>
                <a:cs typeface="Segoe UI"/>
              </a:rPr>
              <a:t>Phương pháp &amp; Kiến trúc</a:t>
            </a:r>
          </a:p>
        </p:txBody>
      </p:sp>
      <p:sp>
        <p:nvSpPr>
          <p:cNvPr id="124" name="t"/>
          <p:cNvSpPr txBox="1"/>
          <p:nvPr/>
        </p:nvSpPr>
        <p:spPr>
          <a:xfrm>
            <a:off x="10515600" y="6373368"/>
            <a:ext cx="1124712" cy="320040"/>
          </a:xfrm>
          <a:prstGeom prst="rect">
            <a:avLst/>
          </a:prstGeom>
          <a:noFill/>
        </p:spPr>
        <p:txBody>
          <a:bodyPr wrap="square" lIns="63500" tIns="38100" rIns="63500" bIns="38100" anchor="ctr">
            <a:normAutofit/>
          </a:bodyPr>
          <a:lstStyle/>
          <a:p>
            <a:pPr algn="r">
              <a:lnSpc>
                <a:spcPct val="100000"/>
              </a:lnSpc>
              <a:spcAft>
                <a:spcPts val="300"/>
              </a:spcAft>
            </a:pPr>
            <a:r>
              <a:rPr lang="vi-VN" sz="1300" b="1" i="0" dirty="0">
                <a:solidFill>
                  <a:srgbClr val="002B5C"/>
                </a:solidFill>
                <a:latin typeface="Segoe UI"/>
                <a:cs typeface="Segoe U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s"/>
          <p:cNvSpPr/>
          <p:nvPr/>
        </p:nvSpPr>
        <p:spPr>
          <a:xfrm>
            <a:off x="0" y="0"/>
            <a:ext cx="12191695" cy="100584"/>
          </a:xfrm>
          <a:prstGeom prst="rect">
            <a:avLst/>
          </a:prstGeom>
          <a:solidFill>
            <a:srgbClr val="0070C0"/>
          </a:solidFill>
          <a:ln>
            <a:noFill/>
          </a:ln>
        </p:spPr>
        <p:txBody>
          <a:bodyPr/>
          <a:lstStyle/>
          <a:p>
            <a:endParaRPr/>
          </a:p>
        </p:txBody>
      </p:sp>
      <p:sp>
        <p:nvSpPr>
          <p:cNvPr id="126" name="t"/>
          <p:cNvSpPr txBox="1"/>
          <p:nvPr/>
        </p:nvSpPr>
        <p:spPr>
          <a:xfrm>
            <a:off x="548640" y="384048"/>
            <a:ext cx="10058400" cy="274320"/>
          </a:xfrm>
          <a:prstGeom prst="rect">
            <a:avLst/>
          </a:prstGeom>
          <a:noFill/>
        </p:spPr>
        <p:txBody>
          <a:bodyPr wrap="square" lIns="63500" tIns="38100" rIns="63500" bIns="38100" anchor="t">
            <a:normAutofit/>
          </a:bodyPr>
          <a:lstStyle/>
          <a:p>
            <a:pPr algn="l">
              <a:lnSpc>
                <a:spcPct val="100000"/>
              </a:lnSpc>
              <a:spcAft>
                <a:spcPts val="300"/>
              </a:spcAft>
            </a:pPr>
            <a:r>
              <a:rPr lang="vi-VN" sz="1150" b="1" i="0" dirty="0">
                <a:solidFill>
                  <a:srgbClr val="0070C0"/>
                </a:solidFill>
                <a:latin typeface="Segoe UI"/>
                <a:cs typeface="Segoe UI"/>
              </a:rPr>
              <a:t>DASHBOARD</a:t>
            </a:r>
          </a:p>
        </p:txBody>
      </p:sp>
      <p:sp>
        <p:nvSpPr>
          <p:cNvPr id="127" name="t"/>
          <p:cNvSpPr txBox="1"/>
          <p:nvPr/>
        </p:nvSpPr>
        <p:spPr>
          <a:xfrm>
            <a:off x="548640" y="658368"/>
            <a:ext cx="10972800" cy="640080"/>
          </a:xfrm>
          <a:prstGeom prst="rect">
            <a:avLst/>
          </a:prstGeom>
          <a:noFill/>
        </p:spPr>
        <p:txBody>
          <a:bodyPr wrap="square" lIns="63500" tIns="38100" rIns="63500" bIns="38100" anchor="t">
            <a:normAutofit/>
          </a:bodyPr>
          <a:lstStyle/>
          <a:p>
            <a:pPr>
              <a:spcAft>
                <a:spcPts val="300"/>
              </a:spcAft>
            </a:pPr>
            <a:r>
              <a:rPr lang="vi-VN" sz="2500" b="1" dirty="0">
                <a:solidFill>
                  <a:srgbClr val="002B5C"/>
                </a:solidFill>
                <a:cs typeface="Segoe UI"/>
              </a:rPr>
              <a:t>5 phân hệ trong một giao diện Editorial Climate Almanac</a:t>
            </a:r>
          </a:p>
        </p:txBody>
      </p:sp>
      <p:sp>
        <p:nvSpPr>
          <p:cNvPr id="128" name="s"/>
          <p:cNvSpPr/>
          <p:nvPr/>
        </p:nvSpPr>
        <p:spPr>
          <a:xfrm>
            <a:off x="566928" y="1298448"/>
            <a:ext cx="822960" cy="45720"/>
          </a:xfrm>
          <a:prstGeom prst="rect">
            <a:avLst/>
          </a:prstGeom>
          <a:solidFill>
            <a:srgbClr val="0070C0"/>
          </a:solidFill>
          <a:ln>
            <a:noFill/>
          </a:ln>
        </p:spPr>
        <p:txBody>
          <a:bodyPr/>
          <a:lstStyle/>
          <a:p>
            <a:endParaRPr/>
          </a:p>
        </p:txBody>
      </p:sp>
      <p:sp>
        <p:nvSpPr>
          <p:cNvPr id="129" name="s"/>
          <p:cNvSpPr/>
          <p:nvPr/>
        </p:nvSpPr>
        <p:spPr>
          <a:xfrm>
            <a:off x="548640" y="1554480"/>
            <a:ext cx="3520440" cy="2057400"/>
          </a:xfrm>
          <a:prstGeom prst="roundRect">
            <a:avLst/>
          </a:prstGeom>
          <a:solidFill>
            <a:srgbClr val="FFFFFF"/>
          </a:solidFill>
          <a:ln w="12700">
            <a:solidFill>
              <a:srgbClr val="D7E3EF"/>
            </a:solidFill>
          </a:ln>
        </p:spPr>
        <p:txBody>
          <a:bodyPr/>
          <a:lstStyle/>
          <a:p>
            <a:endParaRPr/>
          </a:p>
        </p:txBody>
      </p:sp>
      <p:sp>
        <p:nvSpPr>
          <p:cNvPr id="130" name="t"/>
          <p:cNvSpPr txBox="1"/>
          <p:nvPr/>
        </p:nvSpPr>
        <p:spPr>
          <a:xfrm>
            <a:off x="713232" y="1682496"/>
            <a:ext cx="3191256" cy="365760"/>
          </a:xfrm>
          <a:prstGeom prst="rect">
            <a:avLst/>
          </a:prstGeom>
          <a:noFill/>
        </p:spPr>
        <p:txBody>
          <a:bodyPr wrap="square" lIns="63500" tIns="38100" rIns="63500" bIns="38100" anchor="t">
            <a:normAutofit/>
          </a:bodyPr>
          <a:lstStyle/>
          <a:p>
            <a:pPr algn="l">
              <a:lnSpc>
                <a:spcPct val="100000"/>
              </a:lnSpc>
              <a:spcAft>
                <a:spcPts val="300"/>
              </a:spcAft>
            </a:pPr>
            <a:r>
              <a:rPr lang="vi-VN" sz="1500" b="1" i="0" dirty="0">
                <a:solidFill>
                  <a:srgbClr val="005BA1"/>
                </a:solidFill>
                <a:latin typeface="Segoe UI"/>
                <a:cs typeface="Segoe UI"/>
              </a:rPr>
              <a:t>01  Tổng quan trạm đo</a:t>
            </a:r>
          </a:p>
        </p:txBody>
      </p:sp>
      <p:sp>
        <p:nvSpPr>
          <p:cNvPr id="131" name="t"/>
          <p:cNvSpPr txBox="1"/>
          <p:nvPr/>
        </p:nvSpPr>
        <p:spPr>
          <a:xfrm>
            <a:off x="713232" y="2103120"/>
            <a:ext cx="3191256" cy="1417320"/>
          </a:xfrm>
          <a:prstGeom prst="rect">
            <a:avLst/>
          </a:prstGeom>
          <a:noFill/>
        </p:spPr>
        <p:txBody>
          <a:bodyPr wrap="square" lIns="63500" tIns="38100" rIns="63500" bIns="38100" anchor="t">
            <a:normAutofit/>
          </a:bodyPr>
          <a:lstStyle/>
          <a:p>
            <a:pPr algn="l">
              <a:lnSpc>
                <a:spcPct val="108000"/>
              </a:lnSpc>
              <a:spcAft>
                <a:spcPts val="300"/>
              </a:spcAft>
            </a:pPr>
            <a:r>
              <a:rPr lang="vi-VN" sz="1250" b="0" i="0" dirty="0">
                <a:solidFill>
                  <a:srgbClr val="5A6B7B"/>
                </a:solidFill>
                <a:latin typeface="Segoe UI"/>
                <a:cs typeface="Segoe UI"/>
              </a:rPr>
              <a:t>Bản đồ 28 trạm (scatter kinh–vĩ độ), KPI toàn quốc, click xem chi tiết.</a:t>
            </a:r>
          </a:p>
        </p:txBody>
      </p:sp>
      <p:sp>
        <p:nvSpPr>
          <p:cNvPr id="132" name="s"/>
          <p:cNvSpPr/>
          <p:nvPr/>
        </p:nvSpPr>
        <p:spPr>
          <a:xfrm>
            <a:off x="4279392" y="1554480"/>
            <a:ext cx="3520440" cy="2057400"/>
          </a:xfrm>
          <a:prstGeom prst="roundRect">
            <a:avLst/>
          </a:prstGeom>
          <a:solidFill>
            <a:srgbClr val="FFFFFF"/>
          </a:solidFill>
          <a:ln w="12700">
            <a:solidFill>
              <a:srgbClr val="D7E3EF"/>
            </a:solidFill>
          </a:ln>
        </p:spPr>
        <p:txBody>
          <a:bodyPr/>
          <a:lstStyle/>
          <a:p>
            <a:endParaRPr/>
          </a:p>
        </p:txBody>
      </p:sp>
      <p:sp>
        <p:nvSpPr>
          <p:cNvPr id="133" name="t"/>
          <p:cNvSpPr txBox="1"/>
          <p:nvPr/>
        </p:nvSpPr>
        <p:spPr>
          <a:xfrm>
            <a:off x="4443984" y="1682496"/>
            <a:ext cx="3191256" cy="365760"/>
          </a:xfrm>
          <a:prstGeom prst="rect">
            <a:avLst/>
          </a:prstGeom>
          <a:noFill/>
        </p:spPr>
        <p:txBody>
          <a:bodyPr wrap="square" lIns="63500" tIns="38100" rIns="63500" bIns="38100" anchor="t">
            <a:normAutofit/>
          </a:bodyPr>
          <a:lstStyle/>
          <a:p>
            <a:pPr algn="l">
              <a:lnSpc>
                <a:spcPct val="100000"/>
              </a:lnSpc>
              <a:spcAft>
                <a:spcPts val="300"/>
              </a:spcAft>
            </a:pPr>
            <a:r>
              <a:rPr lang="vi-VN" sz="1500" b="1" i="0" dirty="0">
                <a:solidFill>
                  <a:srgbClr val="005BA1"/>
                </a:solidFill>
                <a:latin typeface="Segoe UI"/>
                <a:cs typeface="Segoe UI"/>
              </a:rPr>
              <a:t>02  Khám phá khí hậu</a:t>
            </a:r>
          </a:p>
        </p:txBody>
      </p:sp>
      <p:sp>
        <p:nvSpPr>
          <p:cNvPr id="134" name="t"/>
          <p:cNvSpPr txBox="1"/>
          <p:nvPr/>
        </p:nvSpPr>
        <p:spPr>
          <a:xfrm>
            <a:off x="4443984" y="2103120"/>
            <a:ext cx="3191256" cy="1417320"/>
          </a:xfrm>
          <a:prstGeom prst="rect">
            <a:avLst/>
          </a:prstGeom>
          <a:noFill/>
        </p:spPr>
        <p:txBody>
          <a:bodyPr wrap="square" lIns="63500" tIns="38100" rIns="63500" bIns="38100" anchor="t">
            <a:normAutofit/>
          </a:bodyPr>
          <a:lstStyle/>
          <a:p>
            <a:pPr algn="l">
              <a:lnSpc>
                <a:spcPct val="108000"/>
              </a:lnSpc>
              <a:spcAft>
                <a:spcPts val="300"/>
              </a:spcAft>
            </a:pPr>
            <a:r>
              <a:rPr lang="vi-VN" sz="1250" b="0" i="0" dirty="0">
                <a:solidFill>
                  <a:srgbClr val="5A6B7B"/>
                </a:solidFill>
                <a:latin typeface="Segoe UI"/>
                <a:cs typeface="Segoe UI"/>
              </a:rPr>
              <a:t>Đường xu hướng nhiệt độ &amp; ma trận nhiệt Tháng × Năm theo mùa vụ.</a:t>
            </a:r>
          </a:p>
        </p:txBody>
      </p:sp>
      <p:sp>
        <p:nvSpPr>
          <p:cNvPr id="135" name="s"/>
          <p:cNvSpPr/>
          <p:nvPr/>
        </p:nvSpPr>
        <p:spPr>
          <a:xfrm>
            <a:off x="8010144" y="1554480"/>
            <a:ext cx="3520440" cy="2057400"/>
          </a:xfrm>
          <a:prstGeom prst="roundRect">
            <a:avLst/>
          </a:prstGeom>
          <a:solidFill>
            <a:srgbClr val="FFFFFF"/>
          </a:solidFill>
          <a:ln w="12700">
            <a:solidFill>
              <a:srgbClr val="D7E3EF"/>
            </a:solidFill>
          </a:ln>
        </p:spPr>
        <p:txBody>
          <a:bodyPr/>
          <a:lstStyle/>
          <a:p>
            <a:endParaRPr/>
          </a:p>
        </p:txBody>
      </p:sp>
      <p:sp>
        <p:nvSpPr>
          <p:cNvPr id="136" name="t"/>
          <p:cNvSpPr txBox="1"/>
          <p:nvPr/>
        </p:nvSpPr>
        <p:spPr>
          <a:xfrm>
            <a:off x="8174736" y="1682496"/>
            <a:ext cx="3191256" cy="365760"/>
          </a:xfrm>
          <a:prstGeom prst="rect">
            <a:avLst/>
          </a:prstGeom>
          <a:noFill/>
        </p:spPr>
        <p:txBody>
          <a:bodyPr wrap="square" lIns="63500" tIns="38100" rIns="63500" bIns="38100" anchor="t">
            <a:normAutofit/>
          </a:bodyPr>
          <a:lstStyle/>
          <a:p>
            <a:pPr algn="l">
              <a:lnSpc>
                <a:spcPct val="100000"/>
              </a:lnSpc>
              <a:spcAft>
                <a:spcPts val="300"/>
              </a:spcAft>
            </a:pPr>
            <a:r>
              <a:rPr lang="vi-VN" sz="1500" b="1" i="0" dirty="0">
                <a:solidFill>
                  <a:srgbClr val="EF6C00"/>
                </a:solidFill>
                <a:latin typeface="Segoe UI"/>
                <a:cs typeface="Segoe UI"/>
              </a:rPr>
              <a:t>03  Thời tiết cực đoan</a:t>
            </a:r>
          </a:p>
        </p:txBody>
      </p:sp>
      <p:sp>
        <p:nvSpPr>
          <p:cNvPr id="137" name="t"/>
          <p:cNvSpPr txBox="1"/>
          <p:nvPr/>
        </p:nvSpPr>
        <p:spPr>
          <a:xfrm>
            <a:off x="8174736" y="2103120"/>
            <a:ext cx="3191256" cy="1417320"/>
          </a:xfrm>
          <a:prstGeom prst="rect">
            <a:avLst/>
          </a:prstGeom>
          <a:noFill/>
        </p:spPr>
        <p:txBody>
          <a:bodyPr wrap="square" lIns="63500" tIns="38100" rIns="63500" bIns="38100" anchor="t">
            <a:normAutofit/>
          </a:bodyPr>
          <a:lstStyle/>
          <a:p>
            <a:pPr algn="l">
              <a:lnSpc>
                <a:spcPct val="108000"/>
              </a:lnSpc>
              <a:spcAft>
                <a:spcPts val="300"/>
              </a:spcAft>
            </a:pPr>
            <a:r>
              <a:rPr lang="vi-VN" sz="1250" b="0" i="0" dirty="0">
                <a:solidFill>
                  <a:srgbClr val="5A6B7B"/>
                </a:solidFill>
                <a:latin typeface="Segoe UI"/>
                <a:cs typeface="Segoe UI"/>
              </a:rPr>
              <a:t>Thanh trượt ngưỡng nhiệt/mưa → nhật ký ngày vượt ngưỡng thiên tai.</a:t>
            </a:r>
          </a:p>
        </p:txBody>
      </p:sp>
      <p:sp>
        <p:nvSpPr>
          <p:cNvPr id="138" name="s"/>
          <p:cNvSpPr/>
          <p:nvPr/>
        </p:nvSpPr>
        <p:spPr>
          <a:xfrm>
            <a:off x="548640" y="3840480"/>
            <a:ext cx="3520440" cy="2057400"/>
          </a:xfrm>
          <a:prstGeom prst="roundRect">
            <a:avLst/>
          </a:prstGeom>
          <a:solidFill>
            <a:srgbClr val="FFFFFF"/>
          </a:solidFill>
          <a:ln w="12700">
            <a:solidFill>
              <a:srgbClr val="D7E3EF"/>
            </a:solidFill>
          </a:ln>
        </p:spPr>
        <p:txBody>
          <a:bodyPr/>
          <a:lstStyle/>
          <a:p>
            <a:endParaRPr/>
          </a:p>
        </p:txBody>
      </p:sp>
      <p:sp>
        <p:nvSpPr>
          <p:cNvPr id="139" name="t"/>
          <p:cNvSpPr txBox="1"/>
          <p:nvPr/>
        </p:nvSpPr>
        <p:spPr>
          <a:xfrm>
            <a:off x="713232" y="3968496"/>
            <a:ext cx="3191256" cy="365760"/>
          </a:xfrm>
          <a:prstGeom prst="rect">
            <a:avLst/>
          </a:prstGeom>
          <a:noFill/>
        </p:spPr>
        <p:txBody>
          <a:bodyPr wrap="square" lIns="63500" tIns="38100" rIns="63500" bIns="38100" anchor="t">
            <a:normAutofit/>
          </a:bodyPr>
          <a:lstStyle/>
          <a:p>
            <a:pPr algn="l">
              <a:lnSpc>
                <a:spcPct val="100000"/>
              </a:lnSpc>
              <a:spcAft>
                <a:spcPts val="300"/>
              </a:spcAft>
            </a:pPr>
            <a:r>
              <a:rPr lang="vi-VN" sz="1500" b="1" i="0" dirty="0">
                <a:solidFill>
                  <a:srgbClr val="0070C0"/>
                </a:solidFill>
                <a:latin typeface="Segoe UI"/>
                <a:cs typeface="Segoe UI"/>
              </a:rPr>
              <a:t>04  Tương quan khí hậu</a:t>
            </a:r>
          </a:p>
        </p:txBody>
      </p:sp>
      <p:sp>
        <p:nvSpPr>
          <p:cNvPr id="140" name="t"/>
          <p:cNvSpPr txBox="1"/>
          <p:nvPr/>
        </p:nvSpPr>
        <p:spPr>
          <a:xfrm>
            <a:off x="713232" y="4389120"/>
            <a:ext cx="3191256" cy="1417320"/>
          </a:xfrm>
          <a:prstGeom prst="rect">
            <a:avLst/>
          </a:prstGeom>
          <a:noFill/>
        </p:spPr>
        <p:txBody>
          <a:bodyPr wrap="square" lIns="63500" tIns="38100" rIns="63500" bIns="38100" anchor="t">
            <a:normAutofit/>
          </a:bodyPr>
          <a:lstStyle/>
          <a:p>
            <a:pPr algn="l">
              <a:lnSpc>
                <a:spcPct val="108000"/>
              </a:lnSpc>
              <a:spcAft>
                <a:spcPts val="300"/>
              </a:spcAft>
            </a:pPr>
            <a:r>
              <a:rPr lang="vi-VN" sz="1250" b="0" i="0" dirty="0">
                <a:solidFill>
                  <a:srgbClr val="5A6B7B"/>
                </a:solidFill>
                <a:latin typeface="Segoe UI"/>
                <a:cs typeface="Segoe UI"/>
              </a:rPr>
              <a:t>Scatter đa biến &amp; ma trận hệ số Pearson giữa các thông số vật lý.</a:t>
            </a:r>
          </a:p>
        </p:txBody>
      </p:sp>
      <p:sp>
        <p:nvSpPr>
          <p:cNvPr id="141" name="s"/>
          <p:cNvSpPr/>
          <p:nvPr/>
        </p:nvSpPr>
        <p:spPr>
          <a:xfrm>
            <a:off x="4279392" y="3840480"/>
            <a:ext cx="3520440" cy="2057400"/>
          </a:xfrm>
          <a:prstGeom prst="roundRect">
            <a:avLst/>
          </a:prstGeom>
          <a:solidFill>
            <a:srgbClr val="FFFFFF"/>
          </a:solidFill>
          <a:ln w="12700">
            <a:solidFill>
              <a:srgbClr val="D7E3EF"/>
            </a:solidFill>
          </a:ln>
        </p:spPr>
        <p:txBody>
          <a:bodyPr/>
          <a:lstStyle/>
          <a:p>
            <a:endParaRPr/>
          </a:p>
        </p:txBody>
      </p:sp>
      <p:sp>
        <p:nvSpPr>
          <p:cNvPr id="142" name="t"/>
          <p:cNvSpPr txBox="1"/>
          <p:nvPr/>
        </p:nvSpPr>
        <p:spPr>
          <a:xfrm>
            <a:off x="4443984" y="3968496"/>
            <a:ext cx="3191256" cy="365760"/>
          </a:xfrm>
          <a:prstGeom prst="rect">
            <a:avLst/>
          </a:prstGeom>
          <a:noFill/>
        </p:spPr>
        <p:txBody>
          <a:bodyPr wrap="square" lIns="63500" tIns="38100" rIns="63500" bIns="38100" anchor="t">
            <a:normAutofit/>
          </a:bodyPr>
          <a:lstStyle/>
          <a:p>
            <a:pPr algn="l">
              <a:lnSpc>
                <a:spcPct val="100000"/>
              </a:lnSpc>
              <a:spcAft>
                <a:spcPts val="300"/>
              </a:spcAft>
            </a:pPr>
            <a:r>
              <a:rPr lang="vi-VN" sz="1500" b="1" i="0" dirty="0">
                <a:solidFill>
                  <a:srgbClr val="00838F"/>
                </a:solidFill>
                <a:latin typeface="Segoe UI"/>
                <a:cs typeface="Segoe UI"/>
              </a:rPr>
              <a:t>05  AI Analyst Portal</a:t>
            </a:r>
          </a:p>
        </p:txBody>
      </p:sp>
      <p:sp>
        <p:nvSpPr>
          <p:cNvPr id="143" name="t"/>
          <p:cNvSpPr txBox="1"/>
          <p:nvPr/>
        </p:nvSpPr>
        <p:spPr>
          <a:xfrm>
            <a:off x="4443984" y="4389120"/>
            <a:ext cx="3191256" cy="1417320"/>
          </a:xfrm>
          <a:prstGeom prst="rect">
            <a:avLst/>
          </a:prstGeom>
          <a:noFill/>
        </p:spPr>
        <p:txBody>
          <a:bodyPr wrap="square" lIns="63500" tIns="38100" rIns="63500" bIns="38100" anchor="t">
            <a:normAutofit/>
          </a:bodyPr>
          <a:lstStyle/>
          <a:p>
            <a:pPr algn="l">
              <a:lnSpc>
                <a:spcPct val="108000"/>
              </a:lnSpc>
              <a:spcAft>
                <a:spcPts val="300"/>
              </a:spcAft>
            </a:pPr>
            <a:r>
              <a:rPr lang="vi-VN" sz="1250" b="0" i="0" dirty="0">
                <a:solidFill>
                  <a:srgbClr val="5A6B7B"/>
                </a:solidFill>
                <a:latin typeface="Segoe UI"/>
                <a:cs typeface="Segoe UI"/>
              </a:rPr>
              <a:t>Hỏi bằng ngôn ngữ tự nhiên → SQL có duyệt, chạy cục bộ an toàn.</a:t>
            </a:r>
          </a:p>
        </p:txBody>
      </p:sp>
      <p:sp>
        <p:nvSpPr>
          <p:cNvPr id="144" name="s"/>
          <p:cNvSpPr/>
          <p:nvPr/>
        </p:nvSpPr>
        <p:spPr>
          <a:xfrm>
            <a:off x="8010144" y="3840480"/>
            <a:ext cx="3520440" cy="2057400"/>
          </a:xfrm>
          <a:prstGeom prst="roundRect">
            <a:avLst/>
          </a:prstGeom>
          <a:solidFill>
            <a:srgbClr val="E8F3FC"/>
          </a:solidFill>
          <a:ln w="12700">
            <a:solidFill>
              <a:srgbClr val="D7E3EF"/>
            </a:solidFill>
          </a:ln>
        </p:spPr>
        <p:txBody>
          <a:bodyPr/>
          <a:lstStyle/>
          <a:p>
            <a:endParaRPr/>
          </a:p>
        </p:txBody>
      </p:sp>
      <p:sp>
        <p:nvSpPr>
          <p:cNvPr id="145" name="t"/>
          <p:cNvSpPr txBox="1"/>
          <p:nvPr/>
        </p:nvSpPr>
        <p:spPr>
          <a:xfrm>
            <a:off x="8174736" y="3968496"/>
            <a:ext cx="3191256" cy="365760"/>
          </a:xfrm>
          <a:prstGeom prst="rect">
            <a:avLst/>
          </a:prstGeom>
          <a:noFill/>
        </p:spPr>
        <p:txBody>
          <a:bodyPr wrap="square" lIns="63500" tIns="38100" rIns="63500" bIns="38100" anchor="t">
            <a:normAutofit/>
          </a:bodyPr>
          <a:lstStyle/>
          <a:p>
            <a:pPr algn="l">
              <a:lnSpc>
                <a:spcPct val="100000"/>
              </a:lnSpc>
              <a:spcAft>
                <a:spcPts val="300"/>
              </a:spcAft>
            </a:pPr>
            <a:r>
              <a:rPr lang="vi-VN" sz="1500" b="1" i="0" dirty="0">
                <a:solidFill>
                  <a:srgbClr val="002B5C"/>
                </a:solidFill>
                <a:latin typeface="Segoe UI"/>
                <a:cs typeface="Segoe UI"/>
              </a:rPr>
              <a:t>★  Thiết kế</a:t>
            </a:r>
          </a:p>
        </p:txBody>
      </p:sp>
      <p:sp>
        <p:nvSpPr>
          <p:cNvPr id="146" name="t"/>
          <p:cNvSpPr txBox="1"/>
          <p:nvPr/>
        </p:nvSpPr>
        <p:spPr>
          <a:xfrm>
            <a:off x="8174736" y="4389120"/>
            <a:ext cx="3191256" cy="1417320"/>
          </a:xfrm>
          <a:prstGeom prst="rect">
            <a:avLst/>
          </a:prstGeom>
          <a:noFill/>
        </p:spPr>
        <p:txBody>
          <a:bodyPr wrap="square" lIns="63500" tIns="38100" rIns="63500" bIns="38100" anchor="t">
            <a:normAutofit/>
          </a:bodyPr>
          <a:lstStyle/>
          <a:p>
            <a:pPr>
              <a:lnSpc>
                <a:spcPct val="108000"/>
              </a:lnSpc>
              <a:spcAft>
                <a:spcPts val="300"/>
              </a:spcAft>
            </a:pPr>
            <a:r>
              <a:rPr lang="vi-VN" sz="1250" dirty="0" smtClean="0">
                <a:solidFill>
                  <a:srgbClr val="5A6B7B"/>
                </a:solidFill>
                <a:cs typeface="Segoe UI"/>
              </a:rPr>
              <a:t>Editorial </a:t>
            </a:r>
            <a:r>
              <a:rPr lang="vi-VN" sz="1250" dirty="0">
                <a:solidFill>
                  <a:srgbClr val="5A6B7B"/>
                </a:solidFill>
                <a:cs typeface="Segoe UI"/>
              </a:rPr>
              <a:t>Climate Almanac — tông sáng, nền giấy ấm, kiểu chữ serif; responsive (CSS Grid). Màu theo vùng miền: teal (Bắc) · hổ phách (Trung) · xanh rừng (Nam); thang nhiệt xanh lạnh → đất nung.</a:t>
            </a:r>
          </a:p>
        </p:txBody>
      </p:sp>
      <p:sp>
        <p:nvSpPr>
          <p:cNvPr id="147" name="s"/>
          <p:cNvSpPr/>
          <p:nvPr/>
        </p:nvSpPr>
        <p:spPr>
          <a:xfrm>
            <a:off x="548640" y="6327648"/>
            <a:ext cx="11091672" cy="12802"/>
          </a:xfrm>
          <a:prstGeom prst="rect">
            <a:avLst/>
          </a:prstGeom>
          <a:solidFill>
            <a:srgbClr val="D7E3EF"/>
          </a:solidFill>
          <a:ln>
            <a:noFill/>
          </a:ln>
        </p:spPr>
        <p:txBody>
          <a:bodyPr/>
          <a:lstStyle/>
          <a:p>
            <a:endParaRPr/>
          </a:p>
        </p:txBody>
      </p:sp>
      <p:sp>
        <p:nvSpPr>
          <p:cNvPr id="148" name="t"/>
          <p:cNvSpPr txBox="1"/>
          <p:nvPr/>
        </p:nvSpPr>
        <p:spPr>
          <a:xfrm>
            <a:off x="548640" y="6373368"/>
            <a:ext cx="8229600" cy="320040"/>
          </a:xfrm>
          <a:prstGeom prst="rect">
            <a:avLst/>
          </a:prstGeom>
          <a:noFill/>
        </p:spPr>
        <p:txBody>
          <a:bodyPr wrap="square" lIns="63500" tIns="38100" rIns="63500" bIns="38100" anchor="ctr">
            <a:normAutofit/>
          </a:bodyPr>
          <a:lstStyle/>
          <a:p>
            <a:pPr algn="l">
              <a:lnSpc>
                <a:spcPct val="100000"/>
              </a:lnSpc>
              <a:spcAft>
                <a:spcPts val="300"/>
              </a:spcAft>
            </a:pPr>
            <a:r>
              <a:rPr lang="vi-VN" sz="1200" b="1" i="0" dirty="0">
                <a:solidFill>
                  <a:srgbClr val="005BA1"/>
                </a:solidFill>
                <a:latin typeface="Segoe UI"/>
                <a:cs typeface="Segoe UI"/>
              </a:rPr>
              <a:t>Dashboard</a:t>
            </a:r>
          </a:p>
        </p:txBody>
      </p:sp>
      <p:sp>
        <p:nvSpPr>
          <p:cNvPr id="149" name="t"/>
          <p:cNvSpPr txBox="1"/>
          <p:nvPr/>
        </p:nvSpPr>
        <p:spPr>
          <a:xfrm>
            <a:off x="10515600" y="6373368"/>
            <a:ext cx="1124712" cy="320040"/>
          </a:xfrm>
          <a:prstGeom prst="rect">
            <a:avLst/>
          </a:prstGeom>
          <a:noFill/>
        </p:spPr>
        <p:txBody>
          <a:bodyPr wrap="square" lIns="63500" tIns="38100" rIns="63500" bIns="38100" anchor="ctr">
            <a:normAutofit/>
          </a:bodyPr>
          <a:lstStyle/>
          <a:p>
            <a:pPr algn="r">
              <a:lnSpc>
                <a:spcPct val="100000"/>
              </a:lnSpc>
              <a:spcAft>
                <a:spcPts val="300"/>
              </a:spcAft>
            </a:pPr>
            <a:r>
              <a:rPr lang="vi-VN" sz="1300" b="1" i="0" dirty="0">
                <a:solidFill>
                  <a:srgbClr val="002B5C"/>
                </a:solidFill>
                <a:latin typeface="Segoe UI"/>
                <a:cs typeface="Segoe U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s"/>
          <p:cNvSpPr/>
          <p:nvPr/>
        </p:nvSpPr>
        <p:spPr>
          <a:xfrm>
            <a:off x="0" y="0"/>
            <a:ext cx="12191695" cy="100584"/>
          </a:xfrm>
          <a:prstGeom prst="rect">
            <a:avLst/>
          </a:prstGeom>
          <a:solidFill>
            <a:srgbClr val="0070C0"/>
          </a:solidFill>
          <a:ln>
            <a:noFill/>
          </a:ln>
        </p:spPr>
        <p:txBody>
          <a:bodyPr/>
          <a:lstStyle/>
          <a:p>
            <a:endParaRPr/>
          </a:p>
        </p:txBody>
      </p:sp>
      <p:sp>
        <p:nvSpPr>
          <p:cNvPr id="151" name="t"/>
          <p:cNvSpPr txBox="1"/>
          <p:nvPr/>
        </p:nvSpPr>
        <p:spPr>
          <a:xfrm>
            <a:off x="548640" y="384048"/>
            <a:ext cx="10058400" cy="274320"/>
          </a:xfrm>
          <a:prstGeom prst="rect">
            <a:avLst/>
          </a:prstGeom>
          <a:noFill/>
        </p:spPr>
        <p:txBody>
          <a:bodyPr wrap="square" lIns="63500" tIns="38100" rIns="63500" bIns="38100" anchor="t">
            <a:normAutofit/>
          </a:bodyPr>
          <a:lstStyle/>
          <a:p>
            <a:pPr algn="l">
              <a:lnSpc>
                <a:spcPct val="100000"/>
              </a:lnSpc>
              <a:spcAft>
                <a:spcPts val="300"/>
              </a:spcAft>
            </a:pPr>
            <a:r>
              <a:rPr lang="vi-VN" sz="1150" b="1" i="0" dirty="0">
                <a:solidFill>
                  <a:srgbClr val="0070C0"/>
                </a:solidFill>
                <a:latin typeface="Segoe UI"/>
                <a:cs typeface="Segoe UI"/>
              </a:rPr>
              <a:t>INSIGHT 1</a:t>
            </a:r>
          </a:p>
        </p:txBody>
      </p:sp>
      <p:sp>
        <p:nvSpPr>
          <p:cNvPr id="152" name="t"/>
          <p:cNvSpPr txBox="1"/>
          <p:nvPr/>
        </p:nvSpPr>
        <p:spPr>
          <a:xfrm>
            <a:off x="548640" y="658368"/>
            <a:ext cx="10972800" cy="640080"/>
          </a:xfrm>
          <a:prstGeom prst="rect">
            <a:avLst/>
          </a:prstGeom>
          <a:noFill/>
        </p:spPr>
        <p:txBody>
          <a:bodyPr wrap="square" lIns="63500" tIns="38100" rIns="63500" bIns="38100" anchor="t">
            <a:normAutofit/>
          </a:bodyPr>
          <a:lstStyle/>
          <a:p>
            <a:pPr algn="l">
              <a:lnSpc>
                <a:spcPct val="100000"/>
              </a:lnSpc>
              <a:spcAft>
                <a:spcPts val="300"/>
              </a:spcAft>
            </a:pPr>
            <a:r>
              <a:rPr lang="vi-VN" sz="2500" b="1" i="0" dirty="0">
                <a:solidFill>
                  <a:srgbClr val="002B5C"/>
                </a:solidFill>
                <a:latin typeface="Segoe UI"/>
                <a:cs typeface="Segoe UI"/>
              </a:rPr>
              <a:t>Đặc trưng nhiệt độ ba miền</a:t>
            </a:r>
          </a:p>
        </p:txBody>
      </p:sp>
      <p:sp>
        <p:nvSpPr>
          <p:cNvPr id="153" name="s"/>
          <p:cNvSpPr/>
          <p:nvPr/>
        </p:nvSpPr>
        <p:spPr>
          <a:xfrm>
            <a:off x="566928" y="1298448"/>
            <a:ext cx="822960" cy="45720"/>
          </a:xfrm>
          <a:prstGeom prst="rect">
            <a:avLst/>
          </a:prstGeom>
          <a:solidFill>
            <a:srgbClr val="0070C0"/>
          </a:solidFill>
          <a:ln>
            <a:noFill/>
          </a:ln>
        </p:spPr>
        <p:txBody>
          <a:bodyPr/>
          <a:lstStyle/>
          <a:p>
            <a:endParaRPr/>
          </a:p>
        </p:txBody>
      </p:sp>
      <p:sp>
        <p:nvSpPr>
          <p:cNvPr id="155" name="t"/>
          <p:cNvSpPr txBox="1"/>
          <p:nvPr/>
        </p:nvSpPr>
        <p:spPr>
          <a:xfrm>
            <a:off x="7818120" y="1737360"/>
            <a:ext cx="3840480" cy="960120"/>
          </a:xfrm>
          <a:prstGeom prst="rect">
            <a:avLst/>
          </a:prstGeom>
          <a:noFill/>
        </p:spPr>
        <p:txBody>
          <a:bodyPr wrap="square" lIns="63500" tIns="38100" rIns="63500" bIns="38100" anchor="t">
            <a:normAutofit/>
          </a:bodyPr>
          <a:lstStyle/>
          <a:p>
            <a:pPr algn="l">
              <a:lnSpc>
                <a:spcPct val="100000"/>
              </a:lnSpc>
              <a:spcAft>
                <a:spcPts val="300"/>
              </a:spcAft>
            </a:pPr>
            <a:r>
              <a:rPr lang="vi-VN" sz="2400" b="1" i="0" dirty="0">
                <a:solidFill>
                  <a:srgbClr val="C62828"/>
                </a:solidFill>
                <a:latin typeface="Segoe UI"/>
                <a:cs typeface="Segoe UI"/>
              </a:rPr>
              <a:t>27.16°C</a:t>
            </a:r>
          </a:p>
          <a:p>
            <a:pPr algn="l">
              <a:lnSpc>
                <a:spcPct val="105000"/>
              </a:lnSpc>
              <a:spcAft>
                <a:spcPts val="300"/>
              </a:spcAft>
            </a:pPr>
            <a:r>
              <a:rPr lang="vi-VN" sz="1250" b="0" i="0" dirty="0">
                <a:solidFill>
                  <a:srgbClr val="5A6B7B"/>
                </a:solidFill>
                <a:latin typeface="Segoe UI"/>
                <a:cs typeface="Segoe UI"/>
              </a:rPr>
              <a:t>Miền Nam — cao &amp; ổn định nhất (SD chỉ 1.32°C)</a:t>
            </a:r>
          </a:p>
        </p:txBody>
      </p:sp>
      <p:sp>
        <p:nvSpPr>
          <p:cNvPr id="156" name="t"/>
          <p:cNvSpPr txBox="1"/>
          <p:nvPr/>
        </p:nvSpPr>
        <p:spPr>
          <a:xfrm>
            <a:off x="7818120" y="2880360"/>
            <a:ext cx="3840480" cy="960120"/>
          </a:xfrm>
          <a:prstGeom prst="rect">
            <a:avLst/>
          </a:prstGeom>
          <a:noFill/>
        </p:spPr>
        <p:txBody>
          <a:bodyPr wrap="square" lIns="63500" tIns="38100" rIns="63500" bIns="38100" anchor="t">
            <a:normAutofit/>
          </a:bodyPr>
          <a:lstStyle/>
          <a:p>
            <a:pPr algn="l">
              <a:lnSpc>
                <a:spcPct val="100000"/>
              </a:lnSpc>
              <a:spcAft>
                <a:spcPts val="300"/>
              </a:spcAft>
            </a:pPr>
            <a:r>
              <a:rPr lang="vi-VN" sz="2400" b="1" i="0" dirty="0">
                <a:solidFill>
                  <a:srgbClr val="005BA1"/>
                </a:solidFill>
                <a:latin typeface="Segoe UI"/>
                <a:cs typeface="Segoe UI"/>
              </a:rPr>
              <a:t>23.32°C</a:t>
            </a:r>
          </a:p>
          <a:p>
            <a:pPr algn="l">
              <a:lnSpc>
                <a:spcPct val="105000"/>
              </a:lnSpc>
              <a:spcAft>
                <a:spcPts val="300"/>
              </a:spcAft>
            </a:pPr>
            <a:r>
              <a:rPr lang="vi-VN" sz="1250" b="0" i="0" dirty="0">
                <a:solidFill>
                  <a:srgbClr val="5A6B7B"/>
                </a:solidFill>
                <a:latin typeface="Segoe UI"/>
                <a:cs typeface="Segoe UI"/>
              </a:rPr>
              <a:t>Miền Bắc — thấp nhất nhưng biên độ rộng nhất (SD 4.91°C; min 4.5°C)</a:t>
            </a:r>
          </a:p>
        </p:txBody>
      </p:sp>
      <p:sp>
        <p:nvSpPr>
          <p:cNvPr id="157" name="t"/>
          <p:cNvSpPr txBox="1"/>
          <p:nvPr/>
        </p:nvSpPr>
        <p:spPr>
          <a:xfrm>
            <a:off x="7818120" y="4023360"/>
            <a:ext cx="3840480" cy="960120"/>
          </a:xfrm>
          <a:prstGeom prst="rect">
            <a:avLst/>
          </a:prstGeom>
          <a:noFill/>
        </p:spPr>
        <p:txBody>
          <a:bodyPr wrap="square" lIns="63500" tIns="38100" rIns="63500" bIns="38100" anchor="t">
            <a:normAutofit/>
          </a:bodyPr>
          <a:lstStyle/>
          <a:p>
            <a:pPr algn="l">
              <a:lnSpc>
                <a:spcPct val="100000"/>
              </a:lnSpc>
              <a:spcAft>
                <a:spcPts val="300"/>
              </a:spcAft>
            </a:pPr>
            <a:r>
              <a:rPr lang="vi-VN" sz="2400" b="1" i="0" dirty="0">
                <a:solidFill>
                  <a:srgbClr val="EF6C00"/>
                </a:solidFill>
                <a:latin typeface="Segoe UI"/>
                <a:cs typeface="Segoe UI"/>
              </a:rPr>
              <a:t>35.3°C</a:t>
            </a:r>
          </a:p>
          <a:p>
            <a:pPr algn="l">
              <a:lnSpc>
                <a:spcPct val="105000"/>
              </a:lnSpc>
              <a:spcAft>
                <a:spcPts val="300"/>
              </a:spcAft>
            </a:pPr>
            <a:r>
              <a:rPr lang="vi-VN" sz="1250" b="0" i="0" dirty="0">
                <a:solidFill>
                  <a:srgbClr val="5A6B7B"/>
                </a:solidFill>
                <a:latin typeface="Segoe UI"/>
                <a:cs typeface="Segoe UI"/>
              </a:rPr>
              <a:t>Miền Trung — nhiệt tối đa cao nhất do gió phơn Tây Nam khô nóng</a:t>
            </a:r>
          </a:p>
        </p:txBody>
      </p:sp>
      <p:sp>
        <p:nvSpPr>
          <p:cNvPr id="158" name="s"/>
          <p:cNvSpPr/>
          <p:nvPr/>
        </p:nvSpPr>
        <p:spPr>
          <a:xfrm>
            <a:off x="7818120" y="5257800"/>
            <a:ext cx="3822192" cy="914400"/>
          </a:xfrm>
          <a:prstGeom prst="roundRect">
            <a:avLst/>
          </a:prstGeom>
          <a:solidFill>
            <a:srgbClr val="E8F3FC"/>
          </a:solidFill>
          <a:ln>
            <a:noFill/>
          </a:ln>
        </p:spPr>
        <p:txBody>
          <a:bodyPr/>
          <a:lstStyle/>
          <a:p>
            <a:endParaRPr/>
          </a:p>
        </p:txBody>
      </p:sp>
      <p:sp>
        <p:nvSpPr>
          <p:cNvPr id="159" name="t"/>
          <p:cNvSpPr txBox="1"/>
          <p:nvPr/>
        </p:nvSpPr>
        <p:spPr>
          <a:xfrm>
            <a:off x="8001000" y="5330952"/>
            <a:ext cx="3474720" cy="777240"/>
          </a:xfrm>
          <a:prstGeom prst="rect">
            <a:avLst/>
          </a:prstGeom>
          <a:noFill/>
        </p:spPr>
        <p:txBody>
          <a:bodyPr wrap="square" lIns="63500" tIns="38100" rIns="63500" bIns="38100" anchor="t">
            <a:normAutofit/>
          </a:bodyPr>
          <a:lstStyle/>
          <a:p>
            <a:pPr algn="l">
              <a:lnSpc>
                <a:spcPct val="110000"/>
              </a:lnSpc>
              <a:spcAft>
                <a:spcPts val="300"/>
              </a:spcAft>
            </a:pPr>
            <a:r>
              <a:rPr lang="vi-VN" sz="1250" b="0" i="0" dirty="0">
                <a:solidFill>
                  <a:srgbClr val="005BA1"/>
                </a:solidFill>
                <a:latin typeface="Segoe UI"/>
                <a:cs typeface="Segoe UI"/>
              </a:rPr>
              <a:t>Nam: khối hộp hẹp, gần “phẳng”. Bắc: hộp cao, nhiều điểm ngoại lai lạnh về mùa đông.</a:t>
            </a:r>
          </a:p>
        </p:txBody>
      </p:sp>
      <p:sp>
        <p:nvSpPr>
          <p:cNvPr id="160" name="s"/>
          <p:cNvSpPr/>
          <p:nvPr/>
        </p:nvSpPr>
        <p:spPr>
          <a:xfrm>
            <a:off x="548640" y="6327648"/>
            <a:ext cx="11091672" cy="12802"/>
          </a:xfrm>
          <a:prstGeom prst="rect">
            <a:avLst/>
          </a:prstGeom>
          <a:solidFill>
            <a:srgbClr val="D7E3EF"/>
          </a:solidFill>
          <a:ln>
            <a:noFill/>
          </a:ln>
        </p:spPr>
        <p:txBody>
          <a:bodyPr/>
          <a:lstStyle/>
          <a:p>
            <a:endParaRPr/>
          </a:p>
        </p:txBody>
      </p:sp>
      <p:sp>
        <p:nvSpPr>
          <p:cNvPr id="161" name="t"/>
          <p:cNvSpPr txBox="1"/>
          <p:nvPr/>
        </p:nvSpPr>
        <p:spPr>
          <a:xfrm>
            <a:off x="548640" y="6373368"/>
            <a:ext cx="8229600" cy="320040"/>
          </a:xfrm>
          <a:prstGeom prst="rect">
            <a:avLst/>
          </a:prstGeom>
          <a:noFill/>
        </p:spPr>
        <p:txBody>
          <a:bodyPr wrap="square" lIns="63500" tIns="38100" rIns="63500" bIns="38100" anchor="ctr">
            <a:normAutofit/>
          </a:bodyPr>
          <a:lstStyle/>
          <a:p>
            <a:pPr algn="l">
              <a:lnSpc>
                <a:spcPct val="100000"/>
              </a:lnSpc>
              <a:spcAft>
                <a:spcPts val="300"/>
              </a:spcAft>
            </a:pPr>
            <a:r>
              <a:rPr lang="vi-VN" sz="1200" b="1" i="0" dirty="0">
                <a:solidFill>
                  <a:srgbClr val="005BA1"/>
                </a:solidFill>
                <a:latin typeface="Segoe UI"/>
                <a:cs typeface="Segoe UI"/>
              </a:rPr>
              <a:t>Insight 1 · Nhiệt độ ba miền</a:t>
            </a:r>
          </a:p>
        </p:txBody>
      </p:sp>
      <p:sp>
        <p:nvSpPr>
          <p:cNvPr id="162" name="t"/>
          <p:cNvSpPr txBox="1"/>
          <p:nvPr/>
        </p:nvSpPr>
        <p:spPr>
          <a:xfrm>
            <a:off x="10515600" y="6373368"/>
            <a:ext cx="1124712" cy="320040"/>
          </a:xfrm>
          <a:prstGeom prst="rect">
            <a:avLst/>
          </a:prstGeom>
          <a:noFill/>
        </p:spPr>
        <p:txBody>
          <a:bodyPr wrap="square" lIns="63500" tIns="38100" rIns="63500" bIns="38100" anchor="ctr">
            <a:normAutofit/>
          </a:bodyPr>
          <a:lstStyle/>
          <a:p>
            <a:pPr algn="r">
              <a:lnSpc>
                <a:spcPct val="100000"/>
              </a:lnSpc>
              <a:spcAft>
                <a:spcPts val="300"/>
              </a:spcAft>
            </a:pPr>
            <a:r>
              <a:rPr lang="vi-VN" sz="1300" b="1" i="0" dirty="0">
                <a:solidFill>
                  <a:srgbClr val="002B5C"/>
                </a:solidFill>
                <a:latin typeface="Segoe UI"/>
                <a:cs typeface="Segoe UI"/>
              </a:rPr>
              <a:t>6</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640" y="1377086"/>
            <a:ext cx="7178040" cy="43982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s"/>
          <p:cNvSpPr/>
          <p:nvPr/>
        </p:nvSpPr>
        <p:spPr>
          <a:xfrm>
            <a:off x="0" y="0"/>
            <a:ext cx="12191695" cy="100584"/>
          </a:xfrm>
          <a:prstGeom prst="rect">
            <a:avLst/>
          </a:prstGeom>
          <a:solidFill>
            <a:srgbClr val="0070C0"/>
          </a:solidFill>
          <a:ln>
            <a:noFill/>
          </a:ln>
        </p:spPr>
        <p:txBody>
          <a:bodyPr/>
          <a:lstStyle/>
          <a:p>
            <a:endParaRPr/>
          </a:p>
        </p:txBody>
      </p:sp>
      <p:sp>
        <p:nvSpPr>
          <p:cNvPr id="164" name="t"/>
          <p:cNvSpPr txBox="1"/>
          <p:nvPr/>
        </p:nvSpPr>
        <p:spPr>
          <a:xfrm>
            <a:off x="548640" y="384048"/>
            <a:ext cx="10058400" cy="274320"/>
          </a:xfrm>
          <a:prstGeom prst="rect">
            <a:avLst/>
          </a:prstGeom>
          <a:noFill/>
        </p:spPr>
        <p:txBody>
          <a:bodyPr wrap="square" lIns="63500" tIns="38100" rIns="63500" bIns="38100" anchor="t">
            <a:normAutofit/>
          </a:bodyPr>
          <a:lstStyle/>
          <a:p>
            <a:pPr algn="l">
              <a:lnSpc>
                <a:spcPct val="100000"/>
              </a:lnSpc>
              <a:spcAft>
                <a:spcPts val="300"/>
              </a:spcAft>
            </a:pPr>
            <a:r>
              <a:rPr lang="vi-VN" sz="1150" b="1" i="0" dirty="0">
                <a:solidFill>
                  <a:srgbClr val="0070C0"/>
                </a:solidFill>
                <a:latin typeface="Segoe UI"/>
                <a:cs typeface="Segoe UI"/>
              </a:rPr>
              <a:t>INSIGHT 2</a:t>
            </a:r>
          </a:p>
        </p:txBody>
      </p:sp>
      <p:sp>
        <p:nvSpPr>
          <p:cNvPr id="165" name="t"/>
          <p:cNvSpPr txBox="1"/>
          <p:nvPr/>
        </p:nvSpPr>
        <p:spPr>
          <a:xfrm>
            <a:off x="548640" y="658368"/>
            <a:ext cx="10972800" cy="640080"/>
          </a:xfrm>
          <a:prstGeom prst="rect">
            <a:avLst/>
          </a:prstGeom>
          <a:noFill/>
        </p:spPr>
        <p:txBody>
          <a:bodyPr wrap="square" lIns="63500" tIns="38100" rIns="63500" bIns="38100" anchor="t">
            <a:normAutofit/>
          </a:bodyPr>
          <a:lstStyle/>
          <a:p>
            <a:pPr algn="l">
              <a:lnSpc>
                <a:spcPct val="100000"/>
              </a:lnSpc>
              <a:spcAft>
                <a:spcPts val="300"/>
              </a:spcAft>
            </a:pPr>
            <a:r>
              <a:rPr lang="vi-VN" sz="2500" b="1" i="0" dirty="0">
                <a:solidFill>
                  <a:srgbClr val="002B5C"/>
                </a:solidFill>
                <a:latin typeface="Segoe UI"/>
                <a:cs typeface="Segoe UI"/>
              </a:rPr>
              <a:t>Mùa mưa lệch pha giữa ba miền</a:t>
            </a:r>
          </a:p>
        </p:txBody>
      </p:sp>
      <p:sp>
        <p:nvSpPr>
          <p:cNvPr id="166" name="s"/>
          <p:cNvSpPr/>
          <p:nvPr/>
        </p:nvSpPr>
        <p:spPr>
          <a:xfrm>
            <a:off x="566928" y="1298448"/>
            <a:ext cx="822960" cy="45720"/>
          </a:xfrm>
          <a:prstGeom prst="rect">
            <a:avLst/>
          </a:prstGeom>
          <a:solidFill>
            <a:srgbClr val="0070C0"/>
          </a:solidFill>
          <a:ln>
            <a:noFill/>
          </a:ln>
        </p:spPr>
        <p:txBody>
          <a:bodyPr/>
          <a:lstStyle/>
          <a:p>
            <a:endParaRPr/>
          </a:p>
        </p:txBody>
      </p:sp>
      <p:pic>
        <p:nvPicPr>
          <p:cNvPr id="167" name="img"/>
          <p:cNvPicPr>
            <a:picLocks noChangeAspect="1"/>
          </p:cNvPicPr>
          <p:nvPr/>
        </p:nvPicPr>
        <p:blipFill>
          <a:blip r:embed="rId2"/>
          <a:stretch>
            <a:fillRect/>
          </a:stretch>
        </p:blipFill>
        <p:spPr>
          <a:xfrm>
            <a:off x="548640" y="1691640"/>
            <a:ext cx="7223760" cy="4023360"/>
          </a:xfrm>
          <a:prstGeom prst="rect">
            <a:avLst/>
          </a:prstGeom>
        </p:spPr>
      </p:pic>
      <p:sp>
        <p:nvSpPr>
          <p:cNvPr id="168" name="t"/>
          <p:cNvSpPr txBox="1"/>
          <p:nvPr/>
        </p:nvSpPr>
        <p:spPr>
          <a:xfrm>
            <a:off x="7955280" y="1783080"/>
            <a:ext cx="3749040" cy="2743200"/>
          </a:xfrm>
          <a:prstGeom prst="rect">
            <a:avLst/>
          </a:prstGeom>
          <a:noFill/>
        </p:spPr>
        <p:txBody>
          <a:bodyPr wrap="square" lIns="63500" tIns="38100" rIns="63500" bIns="38100" anchor="t">
            <a:normAutofit/>
          </a:bodyPr>
          <a:lstStyle/>
          <a:p>
            <a:pPr algn="l">
              <a:lnSpc>
                <a:spcPct val="105000"/>
              </a:lnSpc>
              <a:spcAft>
                <a:spcPts val="700"/>
              </a:spcAft>
            </a:pPr>
            <a:r>
              <a:rPr lang="vi-VN" sz="1400" b="1" i="0" dirty="0">
                <a:solidFill>
                  <a:srgbClr val="0070C0"/>
                </a:solidFill>
                <a:latin typeface="Segoe UI"/>
                <a:cs typeface="Segoe UI"/>
              </a:rPr>
              <a:t>●  </a:t>
            </a:r>
            <a:r>
              <a:rPr lang="vi-VN" sz="1400" b="1" i="0" dirty="0">
                <a:solidFill>
                  <a:srgbClr val="002B5C"/>
                </a:solidFill>
                <a:latin typeface="Segoe UI"/>
                <a:cs typeface="Segoe UI"/>
              </a:rPr>
              <a:t>Miền Bắc: </a:t>
            </a:r>
            <a:r>
              <a:rPr lang="vi-VN" sz="1400" b="0" i="0" dirty="0">
                <a:solidFill>
                  <a:srgbClr val="12263A"/>
                </a:solidFill>
                <a:latin typeface="Segoe UI"/>
                <a:cs typeface="Segoe UI"/>
              </a:rPr>
              <a:t>mưa tập trung T6–T9, mùa đông rất khô.</a:t>
            </a:r>
          </a:p>
          <a:p>
            <a:pPr algn="l">
              <a:lnSpc>
                <a:spcPct val="105000"/>
              </a:lnSpc>
              <a:spcAft>
                <a:spcPts val="700"/>
              </a:spcAft>
            </a:pPr>
            <a:r>
              <a:rPr lang="vi-VN" sz="1400" b="1" i="0" dirty="0">
                <a:solidFill>
                  <a:srgbClr val="0070C0"/>
                </a:solidFill>
                <a:latin typeface="Segoe UI"/>
                <a:cs typeface="Segoe UI"/>
              </a:rPr>
              <a:t>●  </a:t>
            </a:r>
            <a:r>
              <a:rPr lang="vi-VN" sz="1400" b="1" i="0" dirty="0">
                <a:solidFill>
                  <a:srgbClr val="002B5C"/>
                </a:solidFill>
                <a:latin typeface="Segoe UI"/>
                <a:cs typeface="Segoe UI"/>
              </a:rPr>
              <a:t>Miền Trung: </a:t>
            </a:r>
            <a:r>
              <a:rPr lang="vi-VN" sz="1400" b="0" i="0" dirty="0">
                <a:solidFill>
                  <a:srgbClr val="12263A"/>
                </a:solidFill>
                <a:latin typeface="Segoe UI"/>
                <a:cs typeface="Segoe UI"/>
              </a:rPr>
              <a:t>đỉnh mưa dịch về T10–T11 (Trường Sơn chắn gió + bão).</a:t>
            </a:r>
          </a:p>
          <a:p>
            <a:pPr algn="l">
              <a:lnSpc>
                <a:spcPct val="105000"/>
              </a:lnSpc>
              <a:spcAft>
                <a:spcPts val="700"/>
              </a:spcAft>
            </a:pPr>
            <a:r>
              <a:rPr lang="vi-VN" sz="1400" b="1" i="0" dirty="0">
                <a:solidFill>
                  <a:srgbClr val="0070C0"/>
                </a:solidFill>
                <a:latin typeface="Segoe UI"/>
                <a:cs typeface="Segoe UI"/>
              </a:rPr>
              <a:t>●  </a:t>
            </a:r>
            <a:r>
              <a:rPr lang="vi-VN" sz="1400" b="1" i="0" dirty="0">
                <a:solidFill>
                  <a:srgbClr val="002B5C"/>
                </a:solidFill>
                <a:latin typeface="Segoe UI"/>
                <a:cs typeface="Segoe UI"/>
              </a:rPr>
              <a:t>Miền Nam: </a:t>
            </a:r>
            <a:r>
              <a:rPr lang="vi-VN" sz="1400" b="0" i="0" dirty="0">
                <a:solidFill>
                  <a:srgbClr val="12263A"/>
                </a:solidFill>
                <a:latin typeface="Segoe UI"/>
                <a:cs typeface="Segoe UI"/>
              </a:rPr>
              <a:t>mùa mưa dài T5–T11 theo gió mùa Tây Nam.</a:t>
            </a:r>
          </a:p>
        </p:txBody>
      </p:sp>
      <p:sp>
        <p:nvSpPr>
          <p:cNvPr id="169" name="s"/>
          <p:cNvSpPr/>
          <p:nvPr/>
        </p:nvSpPr>
        <p:spPr>
          <a:xfrm>
            <a:off x="7955280" y="4709160"/>
            <a:ext cx="3703320" cy="1234440"/>
          </a:xfrm>
          <a:prstGeom prst="roundRect">
            <a:avLst/>
          </a:prstGeom>
          <a:solidFill>
            <a:srgbClr val="E8F3FC"/>
          </a:solidFill>
          <a:ln>
            <a:noFill/>
          </a:ln>
        </p:spPr>
        <p:txBody>
          <a:bodyPr/>
          <a:lstStyle/>
          <a:p>
            <a:endParaRPr/>
          </a:p>
        </p:txBody>
      </p:sp>
      <p:sp>
        <p:nvSpPr>
          <p:cNvPr id="170" name="t"/>
          <p:cNvSpPr txBox="1"/>
          <p:nvPr/>
        </p:nvSpPr>
        <p:spPr>
          <a:xfrm>
            <a:off x="8138160" y="4800600"/>
            <a:ext cx="3383280" cy="1051560"/>
          </a:xfrm>
          <a:prstGeom prst="rect">
            <a:avLst/>
          </a:prstGeom>
          <a:noFill/>
        </p:spPr>
        <p:txBody>
          <a:bodyPr wrap="square" lIns="63500" tIns="38100" rIns="63500" bIns="38100" anchor="t">
            <a:normAutofit/>
          </a:bodyPr>
          <a:lstStyle/>
          <a:p>
            <a:pPr algn="l">
              <a:lnSpc>
                <a:spcPct val="112000"/>
              </a:lnSpc>
              <a:spcAft>
                <a:spcPts val="300"/>
              </a:spcAft>
            </a:pPr>
            <a:r>
              <a:rPr lang="vi-VN" sz="1250" b="0" i="0" dirty="0">
                <a:solidFill>
                  <a:srgbClr val="005BA1"/>
                </a:solidFill>
                <a:latin typeface="Segoe UI"/>
                <a:cs typeface="Segoe UI"/>
              </a:rPr>
              <a:t>Đường xanh (Trung) tách khỏi hai miền còn lại vào cuối năm — bằng chứng trực quan cho lệch pha mùa mưa.</a:t>
            </a:r>
          </a:p>
        </p:txBody>
      </p:sp>
      <p:sp>
        <p:nvSpPr>
          <p:cNvPr id="171" name="s"/>
          <p:cNvSpPr/>
          <p:nvPr/>
        </p:nvSpPr>
        <p:spPr>
          <a:xfrm>
            <a:off x="548640" y="6327648"/>
            <a:ext cx="11091672" cy="12802"/>
          </a:xfrm>
          <a:prstGeom prst="rect">
            <a:avLst/>
          </a:prstGeom>
          <a:solidFill>
            <a:srgbClr val="D7E3EF"/>
          </a:solidFill>
          <a:ln>
            <a:noFill/>
          </a:ln>
        </p:spPr>
        <p:txBody>
          <a:bodyPr/>
          <a:lstStyle/>
          <a:p>
            <a:endParaRPr/>
          </a:p>
        </p:txBody>
      </p:sp>
      <p:sp>
        <p:nvSpPr>
          <p:cNvPr id="172" name="t"/>
          <p:cNvSpPr txBox="1"/>
          <p:nvPr/>
        </p:nvSpPr>
        <p:spPr>
          <a:xfrm>
            <a:off x="548640" y="6373368"/>
            <a:ext cx="8229600" cy="320040"/>
          </a:xfrm>
          <a:prstGeom prst="rect">
            <a:avLst/>
          </a:prstGeom>
          <a:noFill/>
        </p:spPr>
        <p:txBody>
          <a:bodyPr wrap="square" lIns="63500" tIns="38100" rIns="63500" bIns="38100" anchor="ctr">
            <a:normAutofit/>
          </a:bodyPr>
          <a:lstStyle/>
          <a:p>
            <a:pPr algn="l">
              <a:lnSpc>
                <a:spcPct val="100000"/>
              </a:lnSpc>
              <a:spcAft>
                <a:spcPts val="300"/>
              </a:spcAft>
            </a:pPr>
            <a:r>
              <a:rPr lang="vi-VN" sz="1200" b="1" i="0" dirty="0">
                <a:solidFill>
                  <a:srgbClr val="005BA1"/>
                </a:solidFill>
                <a:latin typeface="Segoe UI"/>
                <a:cs typeface="Segoe UI"/>
              </a:rPr>
              <a:t>Insight 2 · Mùa mưa</a:t>
            </a:r>
          </a:p>
        </p:txBody>
      </p:sp>
      <p:sp>
        <p:nvSpPr>
          <p:cNvPr id="173" name="t"/>
          <p:cNvSpPr txBox="1"/>
          <p:nvPr/>
        </p:nvSpPr>
        <p:spPr>
          <a:xfrm>
            <a:off x="10515600" y="6373368"/>
            <a:ext cx="1124712" cy="320040"/>
          </a:xfrm>
          <a:prstGeom prst="rect">
            <a:avLst/>
          </a:prstGeom>
          <a:noFill/>
        </p:spPr>
        <p:txBody>
          <a:bodyPr wrap="square" lIns="63500" tIns="38100" rIns="63500" bIns="38100" anchor="ctr">
            <a:normAutofit/>
          </a:bodyPr>
          <a:lstStyle/>
          <a:p>
            <a:pPr algn="r">
              <a:lnSpc>
                <a:spcPct val="100000"/>
              </a:lnSpc>
              <a:spcAft>
                <a:spcPts val="300"/>
              </a:spcAft>
            </a:pPr>
            <a:r>
              <a:rPr lang="vi-VN" sz="1300" b="1" i="0" dirty="0">
                <a:solidFill>
                  <a:srgbClr val="002B5C"/>
                </a:solidFill>
                <a:latin typeface="Segoe UI"/>
                <a:cs typeface="Segoe U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s"/>
          <p:cNvSpPr/>
          <p:nvPr/>
        </p:nvSpPr>
        <p:spPr>
          <a:xfrm>
            <a:off x="0" y="0"/>
            <a:ext cx="12191695" cy="100584"/>
          </a:xfrm>
          <a:prstGeom prst="rect">
            <a:avLst/>
          </a:prstGeom>
          <a:solidFill>
            <a:srgbClr val="0070C0"/>
          </a:solidFill>
          <a:ln>
            <a:noFill/>
          </a:ln>
        </p:spPr>
        <p:txBody>
          <a:bodyPr/>
          <a:lstStyle/>
          <a:p>
            <a:endParaRPr/>
          </a:p>
        </p:txBody>
      </p:sp>
      <p:sp>
        <p:nvSpPr>
          <p:cNvPr id="175" name="t"/>
          <p:cNvSpPr txBox="1"/>
          <p:nvPr/>
        </p:nvSpPr>
        <p:spPr>
          <a:xfrm>
            <a:off x="548640" y="384048"/>
            <a:ext cx="10058400" cy="274320"/>
          </a:xfrm>
          <a:prstGeom prst="rect">
            <a:avLst/>
          </a:prstGeom>
          <a:noFill/>
        </p:spPr>
        <p:txBody>
          <a:bodyPr wrap="square" lIns="63500" tIns="38100" rIns="63500" bIns="38100" anchor="t">
            <a:normAutofit/>
          </a:bodyPr>
          <a:lstStyle/>
          <a:p>
            <a:pPr algn="l">
              <a:lnSpc>
                <a:spcPct val="100000"/>
              </a:lnSpc>
              <a:spcAft>
                <a:spcPts val="300"/>
              </a:spcAft>
            </a:pPr>
            <a:r>
              <a:rPr lang="vi-VN" sz="1150" b="1" i="0" dirty="0">
                <a:solidFill>
                  <a:srgbClr val="0070C0"/>
                </a:solidFill>
                <a:latin typeface="Segoe UI"/>
                <a:cs typeface="Segoe UI"/>
              </a:rPr>
              <a:t>INSIGHT 3</a:t>
            </a:r>
          </a:p>
        </p:txBody>
      </p:sp>
      <p:sp>
        <p:nvSpPr>
          <p:cNvPr id="176" name="t"/>
          <p:cNvSpPr txBox="1"/>
          <p:nvPr/>
        </p:nvSpPr>
        <p:spPr>
          <a:xfrm>
            <a:off x="548640" y="658368"/>
            <a:ext cx="10972800" cy="640080"/>
          </a:xfrm>
          <a:prstGeom prst="rect">
            <a:avLst/>
          </a:prstGeom>
          <a:noFill/>
        </p:spPr>
        <p:txBody>
          <a:bodyPr wrap="square" lIns="63500" tIns="38100" rIns="63500" bIns="38100" anchor="t">
            <a:normAutofit/>
          </a:bodyPr>
          <a:lstStyle/>
          <a:p>
            <a:pPr algn="l">
              <a:lnSpc>
                <a:spcPct val="100000"/>
              </a:lnSpc>
              <a:spcAft>
                <a:spcPts val="300"/>
              </a:spcAft>
            </a:pPr>
            <a:r>
              <a:rPr lang="vi-VN" sz="2500" b="1" i="0" dirty="0">
                <a:solidFill>
                  <a:srgbClr val="002B5C"/>
                </a:solidFill>
                <a:latin typeface="Segoe UI"/>
                <a:cs typeface="Segoe UI"/>
              </a:rPr>
              <a:t>Tương quan bức xạ – nhiệt độ &amp; kỷ lục cực đoan</a:t>
            </a:r>
          </a:p>
        </p:txBody>
      </p:sp>
      <p:sp>
        <p:nvSpPr>
          <p:cNvPr id="177" name="s"/>
          <p:cNvSpPr/>
          <p:nvPr/>
        </p:nvSpPr>
        <p:spPr>
          <a:xfrm>
            <a:off x="566928" y="1298448"/>
            <a:ext cx="822960" cy="45720"/>
          </a:xfrm>
          <a:prstGeom prst="rect">
            <a:avLst/>
          </a:prstGeom>
          <a:solidFill>
            <a:srgbClr val="0070C0"/>
          </a:solidFill>
          <a:ln>
            <a:noFill/>
          </a:ln>
        </p:spPr>
        <p:txBody>
          <a:bodyPr/>
          <a:lstStyle/>
          <a:p>
            <a:endParaRPr/>
          </a:p>
        </p:txBody>
      </p:sp>
      <p:pic>
        <p:nvPicPr>
          <p:cNvPr id="178" name="img"/>
          <p:cNvPicPr>
            <a:picLocks noChangeAspect="1"/>
          </p:cNvPicPr>
          <p:nvPr/>
        </p:nvPicPr>
        <p:blipFill>
          <a:blip r:embed="rId2"/>
          <a:stretch>
            <a:fillRect/>
          </a:stretch>
        </p:blipFill>
        <p:spPr>
          <a:xfrm>
            <a:off x="548640" y="1783080"/>
            <a:ext cx="6766560" cy="4059936"/>
          </a:xfrm>
          <a:prstGeom prst="rect">
            <a:avLst/>
          </a:prstGeom>
        </p:spPr>
      </p:pic>
      <p:sp>
        <p:nvSpPr>
          <p:cNvPr id="179" name="t"/>
          <p:cNvSpPr txBox="1"/>
          <p:nvPr/>
        </p:nvSpPr>
        <p:spPr>
          <a:xfrm>
            <a:off x="7498080" y="1572768"/>
            <a:ext cx="4206240" cy="365760"/>
          </a:xfrm>
          <a:prstGeom prst="rect">
            <a:avLst/>
          </a:prstGeom>
          <a:noFill/>
        </p:spPr>
        <p:txBody>
          <a:bodyPr wrap="square" lIns="63500" tIns="38100" rIns="63500" bIns="38100" anchor="t">
            <a:normAutofit/>
          </a:bodyPr>
          <a:lstStyle/>
          <a:p>
            <a:pPr algn="l">
              <a:lnSpc>
                <a:spcPct val="100000"/>
              </a:lnSpc>
              <a:spcAft>
                <a:spcPts val="300"/>
              </a:spcAft>
            </a:pPr>
            <a:r>
              <a:rPr lang="vi-VN" sz="1400" b="1" i="0" dirty="0">
                <a:solidFill>
                  <a:srgbClr val="005BA1"/>
                </a:solidFill>
                <a:latin typeface="Segoe UI"/>
                <a:cs typeface="Segoe UI"/>
              </a:rPr>
              <a:t>Hệ số Pearson (bức xạ ↔ nhiệt độ)</a:t>
            </a:r>
          </a:p>
        </p:txBody>
      </p:sp>
      <p:sp>
        <p:nvSpPr>
          <p:cNvPr id="180" name="s"/>
          <p:cNvSpPr/>
          <p:nvPr/>
        </p:nvSpPr>
        <p:spPr>
          <a:xfrm>
            <a:off x="7498080" y="1938528"/>
            <a:ext cx="1783080" cy="384048"/>
          </a:xfrm>
          <a:prstGeom prst="roundRect">
            <a:avLst/>
          </a:prstGeom>
          <a:solidFill>
            <a:srgbClr val="E8F3FC"/>
          </a:solidFill>
          <a:ln w="12700">
            <a:solidFill>
              <a:srgbClr val="D7E3EF"/>
            </a:solidFill>
          </a:ln>
        </p:spPr>
        <p:txBody>
          <a:bodyPr/>
          <a:lstStyle/>
          <a:p>
            <a:endParaRPr/>
          </a:p>
        </p:txBody>
      </p:sp>
      <p:sp>
        <p:nvSpPr>
          <p:cNvPr id="181" name="t"/>
          <p:cNvSpPr txBox="1"/>
          <p:nvPr/>
        </p:nvSpPr>
        <p:spPr>
          <a:xfrm>
            <a:off x="7498080" y="1938528"/>
            <a:ext cx="1783080" cy="384048"/>
          </a:xfrm>
          <a:prstGeom prst="rect">
            <a:avLst/>
          </a:prstGeom>
          <a:noFill/>
        </p:spPr>
        <p:txBody>
          <a:bodyPr wrap="square" lIns="63500" tIns="38100" rIns="63500" bIns="38100" anchor="ctr">
            <a:normAutofit/>
          </a:bodyPr>
          <a:lstStyle/>
          <a:p>
            <a:pPr algn="ctr">
              <a:lnSpc>
                <a:spcPct val="100000"/>
              </a:lnSpc>
              <a:spcAft>
                <a:spcPts val="300"/>
              </a:spcAft>
            </a:pPr>
            <a:r>
              <a:rPr lang="vi-VN" sz="1150" b="1" i="0" dirty="0">
                <a:solidFill>
                  <a:srgbClr val="005BA1"/>
                </a:solidFill>
                <a:latin typeface="Segoe UI"/>
                <a:cs typeface="Segoe UI"/>
              </a:rPr>
              <a:t>Toàn quốc 0.5606</a:t>
            </a:r>
          </a:p>
        </p:txBody>
      </p:sp>
      <p:sp>
        <p:nvSpPr>
          <p:cNvPr id="182" name="s"/>
          <p:cNvSpPr/>
          <p:nvPr/>
        </p:nvSpPr>
        <p:spPr>
          <a:xfrm>
            <a:off x="9390888" y="1938528"/>
            <a:ext cx="1234440" cy="384048"/>
          </a:xfrm>
          <a:prstGeom prst="roundRect">
            <a:avLst/>
          </a:prstGeom>
          <a:solidFill>
            <a:srgbClr val="E8F3FC"/>
          </a:solidFill>
          <a:ln w="12700">
            <a:solidFill>
              <a:srgbClr val="D7E3EF"/>
            </a:solidFill>
          </a:ln>
        </p:spPr>
        <p:txBody>
          <a:bodyPr/>
          <a:lstStyle/>
          <a:p>
            <a:endParaRPr/>
          </a:p>
        </p:txBody>
      </p:sp>
      <p:sp>
        <p:nvSpPr>
          <p:cNvPr id="183" name="t"/>
          <p:cNvSpPr txBox="1"/>
          <p:nvPr/>
        </p:nvSpPr>
        <p:spPr>
          <a:xfrm>
            <a:off x="9390888" y="1938528"/>
            <a:ext cx="1234440" cy="384048"/>
          </a:xfrm>
          <a:prstGeom prst="rect">
            <a:avLst/>
          </a:prstGeom>
          <a:noFill/>
        </p:spPr>
        <p:txBody>
          <a:bodyPr wrap="square" lIns="63500" tIns="38100" rIns="63500" bIns="38100" anchor="ctr">
            <a:normAutofit/>
          </a:bodyPr>
          <a:lstStyle/>
          <a:p>
            <a:pPr algn="ctr">
              <a:lnSpc>
                <a:spcPct val="100000"/>
              </a:lnSpc>
              <a:spcAft>
                <a:spcPts val="300"/>
              </a:spcAft>
            </a:pPr>
            <a:r>
              <a:rPr lang="vi-VN" sz="1150" b="1" i="0" dirty="0">
                <a:solidFill>
                  <a:srgbClr val="005BA1"/>
                </a:solidFill>
                <a:latin typeface="Segoe UI"/>
                <a:cs typeface="Segoe UI"/>
              </a:rPr>
              <a:t>Bắc 0.6022</a:t>
            </a:r>
          </a:p>
        </p:txBody>
      </p:sp>
      <p:sp>
        <p:nvSpPr>
          <p:cNvPr id="184" name="s"/>
          <p:cNvSpPr/>
          <p:nvPr/>
        </p:nvSpPr>
        <p:spPr>
          <a:xfrm>
            <a:off x="7498080" y="2395728"/>
            <a:ext cx="1234440" cy="384048"/>
          </a:xfrm>
          <a:prstGeom prst="roundRect">
            <a:avLst/>
          </a:prstGeom>
          <a:solidFill>
            <a:srgbClr val="E8F3FC"/>
          </a:solidFill>
          <a:ln w="12700">
            <a:solidFill>
              <a:srgbClr val="D7E3EF"/>
            </a:solidFill>
          </a:ln>
        </p:spPr>
        <p:txBody>
          <a:bodyPr/>
          <a:lstStyle/>
          <a:p>
            <a:endParaRPr/>
          </a:p>
        </p:txBody>
      </p:sp>
      <p:sp>
        <p:nvSpPr>
          <p:cNvPr id="185" name="t"/>
          <p:cNvSpPr txBox="1"/>
          <p:nvPr/>
        </p:nvSpPr>
        <p:spPr>
          <a:xfrm>
            <a:off x="7498080" y="2395728"/>
            <a:ext cx="1234440" cy="384048"/>
          </a:xfrm>
          <a:prstGeom prst="rect">
            <a:avLst/>
          </a:prstGeom>
          <a:noFill/>
        </p:spPr>
        <p:txBody>
          <a:bodyPr wrap="square" lIns="63500" tIns="38100" rIns="63500" bIns="38100" anchor="ctr">
            <a:normAutofit/>
          </a:bodyPr>
          <a:lstStyle/>
          <a:p>
            <a:pPr algn="ctr">
              <a:lnSpc>
                <a:spcPct val="100000"/>
              </a:lnSpc>
              <a:spcAft>
                <a:spcPts val="300"/>
              </a:spcAft>
            </a:pPr>
            <a:r>
              <a:rPr lang="vi-VN" sz="1150" b="1" i="0" dirty="0">
                <a:solidFill>
                  <a:srgbClr val="005BA1"/>
                </a:solidFill>
                <a:latin typeface="Segoe UI"/>
                <a:cs typeface="Segoe UI"/>
              </a:rPr>
              <a:t>Nam 0.5681</a:t>
            </a:r>
          </a:p>
        </p:txBody>
      </p:sp>
      <p:sp>
        <p:nvSpPr>
          <p:cNvPr id="186" name="s"/>
          <p:cNvSpPr/>
          <p:nvPr/>
        </p:nvSpPr>
        <p:spPr>
          <a:xfrm>
            <a:off x="8842248" y="2395728"/>
            <a:ext cx="1417320" cy="384048"/>
          </a:xfrm>
          <a:prstGeom prst="roundRect">
            <a:avLst/>
          </a:prstGeom>
          <a:solidFill>
            <a:srgbClr val="E8F3FC"/>
          </a:solidFill>
          <a:ln w="12700">
            <a:solidFill>
              <a:srgbClr val="D7E3EF"/>
            </a:solidFill>
          </a:ln>
        </p:spPr>
        <p:txBody>
          <a:bodyPr/>
          <a:lstStyle/>
          <a:p>
            <a:endParaRPr/>
          </a:p>
        </p:txBody>
      </p:sp>
      <p:sp>
        <p:nvSpPr>
          <p:cNvPr id="187" name="t"/>
          <p:cNvSpPr txBox="1"/>
          <p:nvPr/>
        </p:nvSpPr>
        <p:spPr>
          <a:xfrm>
            <a:off x="8842248" y="2395728"/>
            <a:ext cx="1417320" cy="384048"/>
          </a:xfrm>
          <a:prstGeom prst="rect">
            <a:avLst/>
          </a:prstGeom>
          <a:noFill/>
        </p:spPr>
        <p:txBody>
          <a:bodyPr wrap="square" lIns="63500" tIns="38100" rIns="63500" bIns="38100" anchor="ctr">
            <a:normAutofit/>
          </a:bodyPr>
          <a:lstStyle/>
          <a:p>
            <a:pPr algn="ctr">
              <a:lnSpc>
                <a:spcPct val="100000"/>
              </a:lnSpc>
              <a:spcAft>
                <a:spcPts val="300"/>
              </a:spcAft>
            </a:pPr>
            <a:r>
              <a:rPr lang="vi-VN" sz="1150" b="1" i="0" dirty="0">
                <a:solidFill>
                  <a:srgbClr val="005BA1"/>
                </a:solidFill>
                <a:latin typeface="Segoe UI"/>
                <a:cs typeface="Segoe UI"/>
              </a:rPr>
              <a:t>Trung 0.4796</a:t>
            </a:r>
          </a:p>
        </p:txBody>
      </p:sp>
      <p:sp>
        <p:nvSpPr>
          <p:cNvPr id="188" name="t"/>
          <p:cNvSpPr txBox="1"/>
          <p:nvPr/>
        </p:nvSpPr>
        <p:spPr>
          <a:xfrm>
            <a:off x="7498080" y="2898648"/>
            <a:ext cx="4206240" cy="685800"/>
          </a:xfrm>
          <a:prstGeom prst="rect">
            <a:avLst/>
          </a:prstGeom>
          <a:noFill/>
        </p:spPr>
        <p:txBody>
          <a:bodyPr wrap="square" lIns="63500" tIns="38100" rIns="63500" bIns="38100" anchor="t">
            <a:normAutofit/>
          </a:bodyPr>
          <a:lstStyle/>
          <a:p>
            <a:pPr algn="l">
              <a:lnSpc>
                <a:spcPct val="110000"/>
              </a:lnSpc>
              <a:spcAft>
                <a:spcPts val="300"/>
              </a:spcAft>
            </a:pPr>
            <a:r>
              <a:rPr lang="vi-VN" sz="1200" b="0" i="0" dirty="0">
                <a:solidFill>
                  <a:srgbClr val="5A6B7B"/>
                </a:solidFill>
                <a:latin typeface="Segoe UI"/>
                <a:cs typeface="Segoe UI"/>
              </a:rPr>
              <a:t>Miền Trung yếu nhất → nhiệt độ bị chi phối bởi hiệu ứng phơn. Mưa ↔ bức xạ ≈ −0.25 (mây cản bức xạ).</a:t>
            </a:r>
          </a:p>
        </p:txBody>
      </p:sp>
      <p:sp>
        <p:nvSpPr>
          <p:cNvPr id="189" name="t"/>
          <p:cNvSpPr txBox="1"/>
          <p:nvPr/>
        </p:nvSpPr>
        <p:spPr>
          <a:xfrm>
            <a:off x="7498080" y="3630168"/>
            <a:ext cx="4206240" cy="365760"/>
          </a:xfrm>
          <a:prstGeom prst="rect">
            <a:avLst/>
          </a:prstGeom>
          <a:noFill/>
        </p:spPr>
        <p:txBody>
          <a:bodyPr wrap="square" lIns="63500" tIns="38100" rIns="63500" bIns="38100" anchor="t">
            <a:normAutofit/>
          </a:bodyPr>
          <a:lstStyle/>
          <a:p>
            <a:pPr algn="l">
              <a:lnSpc>
                <a:spcPct val="100000"/>
              </a:lnSpc>
              <a:spcAft>
                <a:spcPts val="300"/>
              </a:spcAft>
            </a:pPr>
            <a:r>
              <a:rPr lang="vi-VN" sz="1400" b="1" i="0" dirty="0">
                <a:solidFill>
                  <a:srgbClr val="005BA1"/>
                </a:solidFill>
                <a:latin typeface="Segoe UI"/>
                <a:cs typeface="Segoe UI"/>
              </a:rPr>
              <a:t>Kỷ lục ghi nhận</a:t>
            </a:r>
          </a:p>
        </p:txBody>
      </p:sp>
      <p:sp>
        <p:nvSpPr>
          <p:cNvPr id="190" name="t"/>
          <p:cNvSpPr txBox="1"/>
          <p:nvPr/>
        </p:nvSpPr>
        <p:spPr>
          <a:xfrm>
            <a:off x="7498080" y="3950208"/>
            <a:ext cx="4206240" cy="2011680"/>
          </a:xfrm>
          <a:prstGeom prst="rect">
            <a:avLst/>
          </a:prstGeom>
          <a:noFill/>
        </p:spPr>
        <p:txBody>
          <a:bodyPr wrap="square" lIns="63500" tIns="38100" rIns="63500" bIns="38100" anchor="t">
            <a:normAutofit/>
          </a:bodyPr>
          <a:lstStyle/>
          <a:p>
            <a:pPr algn="l">
              <a:lnSpc>
                <a:spcPct val="105000"/>
              </a:lnSpc>
              <a:spcAft>
                <a:spcPts val="700"/>
              </a:spcAft>
            </a:pPr>
            <a:r>
              <a:rPr lang="vi-VN" sz="1300" b="1" i="0" dirty="0">
                <a:solidFill>
                  <a:srgbClr val="0070C0"/>
                </a:solidFill>
                <a:latin typeface="Segoe UI"/>
                <a:cs typeface="Segoe UI"/>
              </a:rPr>
              <a:t>●  </a:t>
            </a:r>
            <a:r>
              <a:rPr lang="vi-VN" sz="1300" b="1" i="0" dirty="0">
                <a:solidFill>
                  <a:srgbClr val="C62828"/>
                </a:solidFill>
                <a:latin typeface="Segoe UI"/>
                <a:cs typeface="Segoe UI"/>
              </a:rPr>
              <a:t>41.8°C</a:t>
            </a:r>
            <a:r>
              <a:rPr lang="vi-VN" sz="1300" b="0" i="0" dirty="0">
                <a:solidFill>
                  <a:srgbClr val="12263A"/>
                </a:solidFill>
                <a:latin typeface="Segoe UI"/>
                <a:cs typeface="Segoe UI"/>
              </a:rPr>
              <a:t> — Lào Cai, 29/04/2024 (nắng nóng)</a:t>
            </a:r>
          </a:p>
          <a:p>
            <a:pPr algn="l">
              <a:lnSpc>
                <a:spcPct val="105000"/>
              </a:lnSpc>
              <a:spcAft>
                <a:spcPts val="700"/>
              </a:spcAft>
            </a:pPr>
            <a:r>
              <a:rPr lang="vi-VN" sz="1300" b="1" i="0" dirty="0">
                <a:solidFill>
                  <a:srgbClr val="0070C0"/>
                </a:solidFill>
                <a:latin typeface="Segoe UI"/>
                <a:cs typeface="Segoe UI"/>
              </a:rPr>
              <a:t>●  </a:t>
            </a:r>
            <a:r>
              <a:rPr lang="vi-VN" sz="1300" b="1" i="0" dirty="0">
                <a:solidFill>
                  <a:srgbClr val="C62828"/>
                </a:solidFill>
                <a:latin typeface="Segoe UI"/>
                <a:cs typeface="Segoe UI"/>
              </a:rPr>
              <a:t>41.5°C</a:t>
            </a:r>
            <a:r>
              <a:rPr lang="vi-VN" sz="1300" b="0" i="0" dirty="0">
                <a:solidFill>
                  <a:srgbClr val="12263A"/>
                </a:solidFill>
                <a:latin typeface="Segoe UI"/>
                <a:cs typeface="Segoe UI"/>
              </a:rPr>
              <a:t> — Huế, 30/04/2024</a:t>
            </a:r>
          </a:p>
          <a:p>
            <a:pPr algn="l">
              <a:lnSpc>
                <a:spcPct val="105000"/>
              </a:lnSpc>
              <a:spcAft>
                <a:spcPts val="700"/>
              </a:spcAft>
            </a:pPr>
            <a:r>
              <a:rPr lang="vi-VN" sz="1300" b="1" i="0" dirty="0">
                <a:solidFill>
                  <a:srgbClr val="0070C0"/>
                </a:solidFill>
                <a:latin typeface="Segoe UI"/>
                <a:cs typeface="Segoe UI"/>
              </a:rPr>
              <a:t>●  267.5 mm</a:t>
            </a:r>
            <a:r>
              <a:rPr lang="vi-VN" sz="1300" b="0" i="0" dirty="0">
                <a:solidFill>
                  <a:srgbClr val="12263A"/>
                </a:solidFill>
                <a:latin typeface="Segoe UI"/>
                <a:cs typeface="Segoe UI"/>
              </a:rPr>
              <a:t> — Vinh, 18/10/2020 (mưa lịch sử)</a:t>
            </a:r>
          </a:p>
          <a:p>
            <a:pPr algn="l">
              <a:lnSpc>
                <a:spcPct val="105000"/>
              </a:lnSpc>
              <a:spcAft>
                <a:spcPts val="700"/>
              </a:spcAft>
            </a:pPr>
            <a:r>
              <a:rPr lang="vi-VN" sz="1300" b="1" i="0" dirty="0">
                <a:solidFill>
                  <a:srgbClr val="0070C0"/>
                </a:solidFill>
                <a:latin typeface="Segoe UI"/>
                <a:cs typeface="Segoe UI"/>
              </a:rPr>
              <a:t>●  261.5 mm</a:t>
            </a:r>
            <a:r>
              <a:rPr lang="vi-VN" sz="1300" b="0" i="0" dirty="0">
                <a:solidFill>
                  <a:srgbClr val="12263A"/>
                </a:solidFill>
                <a:latin typeface="Segoe UI"/>
                <a:cs typeface="Segoe UI"/>
              </a:rPr>
              <a:t> — Rạch Giá, 05/10/2021</a:t>
            </a:r>
          </a:p>
        </p:txBody>
      </p:sp>
      <p:sp>
        <p:nvSpPr>
          <p:cNvPr id="191" name="s"/>
          <p:cNvSpPr/>
          <p:nvPr/>
        </p:nvSpPr>
        <p:spPr>
          <a:xfrm>
            <a:off x="548640" y="6327648"/>
            <a:ext cx="11091672" cy="12802"/>
          </a:xfrm>
          <a:prstGeom prst="rect">
            <a:avLst/>
          </a:prstGeom>
          <a:solidFill>
            <a:srgbClr val="D7E3EF"/>
          </a:solidFill>
          <a:ln>
            <a:noFill/>
          </a:ln>
        </p:spPr>
        <p:txBody>
          <a:bodyPr/>
          <a:lstStyle/>
          <a:p>
            <a:endParaRPr/>
          </a:p>
        </p:txBody>
      </p:sp>
      <p:sp>
        <p:nvSpPr>
          <p:cNvPr id="192" name="t"/>
          <p:cNvSpPr txBox="1"/>
          <p:nvPr/>
        </p:nvSpPr>
        <p:spPr>
          <a:xfrm>
            <a:off x="548640" y="6373368"/>
            <a:ext cx="8229600" cy="320040"/>
          </a:xfrm>
          <a:prstGeom prst="rect">
            <a:avLst/>
          </a:prstGeom>
          <a:noFill/>
        </p:spPr>
        <p:txBody>
          <a:bodyPr wrap="square" lIns="63500" tIns="38100" rIns="63500" bIns="38100" anchor="ctr">
            <a:normAutofit/>
          </a:bodyPr>
          <a:lstStyle/>
          <a:p>
            <a:pPr algn="l">
              <a:lnSpc>
                <a:spcPct val="100000"/>
              </a:lnSpc>
              <a:spcAft>
                <a:spcPts val="300"/>
              </a:spcAft>
            </a:pPr>
            <a:r>
              <a:rPr lang="vi-VN" sz="1200" b="1" i="0" dirty="0">
                <a:solidFill>
                  <a:srgbClr val="005BA1"/>
                </a:solidFill>
                <a:latin typeface="Segoe UI"/>
                <a:cs typeface="Segoe UI"/>
              </a:rPr>
              <a:t>Insight 3 · Tương quan &amp; Cực đoan</a:t>
            </a:r>
          </a:p>
        </p:txBody>
      </p:sp>
      <p:sp>
        <p:nvSpPr>
          <p:cNvPr id="193" name="t"/>
          <p:cNvSpPr txBox="1"/>
          <p:nvPr/>
        </p:nvSpPr>
        <p:spPr>
          <a:xfrm>
            <a:off x="10515600" y="6373368"/>
            <a:ext cx="1124712" cy="320040"/>
          </a:xfrm>
          <a:prstGeom prst="rect">
            <a:avLst/>
          </a:prstGeom>
          <a:noFill/>
        </p:spPr>
        <p:txBody>
          <a:bodyPr wrap="square" lIns="63500" tIns="38100" rIns="63500" bIns="38100" anchor="ctr">
            <a:normAutofit/>
          </a:bodyPr>
          <a:lstStyle/>
          <a:p>
            <a:pPr algn="r">
              <a:lnSpc>
                <a:spcPct val="100000"/>
              </a:lnSpc>
              <a:spcAft>
                <a:spcPts val="300"/>
              </a:spcAft>
            </a:pPr>
            <a:r>
              <a:rPr lang="vi-VN" sz="1300" b="1" i="0" dirty="0">
                <a:solidFill>
                  <a:srgbClr val="002B5C"/>
                </a:solidFill>
                <a:latin typeface="Segoe UI"/>
                <a:cs typeface="Segoe U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s"/>
          <p:cNvSpPr/>
          <p:nvPr/>
        </p:nvSpPr>
        <p:spPr>
          <a:xfrm>
            <a:off x="0" y="0"/>
            <a:ext cx="12191695" cy="100584"/>
          </a:xfrm>
          <a:prstGeom prst="rect">
            <a:avLst/>
          </a:prstGeom>
          <a:solidFill>
            <a:srgbClr val="0070C0"/>
          </a:solidFill>
          <a:ln>
            <a:noFill/>
          </a:ln>
        </p:spPr>
        <p:txBody>
          <a:bodyPr/>
          <a:lstStyle/>
          <a:p>
            <a:endParaRPr/>
          </a:p>
        </p:txBody>
      </p:sp>
      <p:sp>
        <p:nvSpPr>
          <p:cNvPr id="195" name="t"/>
          <p:cNvSpPr txBox="1"/>
          <p:nvPr/>
        </p:nvSpPr>
        <p:spPr>
          <a:xfrm>
            <a:off x="548640" y="384048"/>
            <a:ext cx="10058400" cy="274320"/>
          </a:xfrm>
          <a:prstGeom prst="rect">
            <a:avLst/>
          </a:prstGeom>
          <a:noFill/>
        </p:spPr>
        <p:txBody>
          <a:bodyPr wrap="square" lIns="63500" tIns="38100" rIns="63500" bIns="38100" anchor="t">
            <a:normAutofit/>
          </a:bodyPr>
          <a:lstStyle/>
          <a:p>
            <a:pPr algn="l">
              <a:lnSpc>
                <a:spcPct val="100000"/>
              </a:lnSpc>
              <a:spcAft>
                <a:spcPts val="300"/>
              </a:spcAft>
            </a:pPr>
            <a:r>
              <a:rPr lang="vi-VN" sz="1150" b="1" i="0" dirty="0">
                <a:solidFill>
                  <a:srgbClr val="0070C0"/>
                </a:solidFill>
                <a:latin typeface="Segoe UI"/>
                <a:cs typeface="Segoe UI"/>
              </a:rPr>
              <a:t>TÍCH HỢP AI</a:t>
            </a:r>
          </a:p>
        </p:txBody>
      </p:sp>
      <p:sp>
        <p:nvSpPr>
          <p:cNvPr id="196" name="t"/>
          <p:cNvSpPr txBox="1"/>
          <p:nvPr/>
        </p:nvSpPr>
        <p:spPr>
          <a:xfrm>
            <a:off x="548640" y="658368"/>
            <a:ext cx="10972800" cy="640080"/>
          </a:xfrm>
          <a:prstGeom prst="rect">
            <a:avLst/>
          </a:prstGeom>
          <a:noFill/>
        </p:spPr>
        <p:txBody>
          <a:bodyPr wrap="square" lIns="63500" tIns="38100" rIns="63500" bIns="38100" anchor="t">
            <a:normAutofit/>
          </a:bodyPr>
          <a:lstStyle/>
          <a:p>
            <a:pPr algn="l">
              <a:lnSpc>
                <a:spcPct val="100000"/>
              </a:lnSpc>
              <a:spcAft>
                <a:spcPts val="300"/>
              </a:spcAft>
            </a:pPr>
            <a:r>
              <a:rPr lang="vi-VN" sz="2500" b="1" i="0" dirty="0">
                <a:solidFill>
                  <a:srgbClr val="002B5C"/>
                </a:solidFill>
                <a:latin typeface="Segoe UI"/>
                <a:cs typeface="Segoe UI"/>
              </a:rPr>
              <a:t>Trợ lý AI Analyst — Human-in-the-loop</a:t>
            </a:r>
          </a:p>
        </p:txBody>
      </p:sp>
      <p:sp>
        <p:nvSpPr>
          <p:cNvPr id="197" name="s"/>
          <p:cNvSpPr/>
          <p:nvPr/>
        </p:nvSpPr>
        <p:spPr>
          <a:xfrm>
            <a:off x="566928" y="1298448"/>
            <a:ext cx="822960" cy="45720"/>
          </a:xfrm>
          <a:prstGeom prst="rect">
            <a:avLst/>
          </a:prstGeom>
          <a:solidFill>
            <a:srgbClr val="0070C0"/>
          </a:solidFill>
          <a:ln>
            <a:noFill/>
          </a:ln>
        </p:spPr>
        <p:txBody>
          <a:bodyPr/>
          <a:lstStyle/>
          <a:p>
            <a:endParaRPr/>
          </a:p>
        </p:txBody>
      </p:sp>
      <p:sp>
        <p:nvSpPr>
          <p:cNvPr id="198" name="t"/>
          <p:cNvSpPr txBox="1"/>
          <p:nvPr/>
        </p:nvSpPr>
        <p:spPr>
          <a:xfrm>
            <a:off x="548640" y="1481328"/>
            <a:ext cx="11064240" cy="502920"/>
          </a:xfrm>
          <a:prstGeom prst="rect">
            <a:avLst/>
          </a:prstGeom>
          <a:noFill/>
        </p:spPr>
        <p:txBody>
          <a:bodyPr wrap="square" lIns="63500" tIns="38100" rIns="63500" bIns="38100" anchor="t">
            <a:normAutofit/>
          </a:bodyPr>
          <a:lstStyle/>
          <a:p>
            <a:pPr algn="l">
              <a:lnSpc>
                <a:spcPct val="110000"/>
              </a:lnSpc>
              <a:spcAft>
                <a:spcPts val="300"/>
              </a:spcAft>
            </a:pPr>
            <a:r>
              <a:rPr lang="vi-VN" sz="1500" b="1" i="0" dirty="0">
                <a:solidFill>
                  <a:srgbClr val="002B5C"/>
                </a:solidFill>
                <a:latin typeface="Segoe UI"/>
                <a:cs typeface="Segoe UI"/>
              </a:rPr>
              <a:t>AI không bao giờ tự thực thi SQL. </a:t>
            </a:r>
            <a:r>
              <a:rPr lang="vi-VN" sz="1500" b="0" i="0" dirty="0">
                <a:solidFill>
                  <a:srgbClr val="12263A"/>
                </a:solidFill>
                <a:latin typeface="Segoe UI"/>
                <a:cs typeface="Segoe UI"/>
              </a:rPr>
              <a:t>Mọi câu lệnh phải hiển thị, được người dùng duyệt/sửa trước khi chạy.</a:t>
            </a:r>
          </a:p>
        </p:txBody>
      </p:sp>
      <p:sp>
        <p:nvSpPr>
          <p:cNvPr id="199" name="s"/>
          <p:cNvSpPr/>
          <p:nvPr/>
        </p:nvSpPr>
        <p:spPr>
          <a:xfrm>
            <a:off x="548640" y="2240280"/>
            <a:ext cx="1965960" cy="1051560"/>
          </a:xfrm>
          <a:prstGeom prst="roundRect">
            <a:avLst/>
          </a:prstGeom>
          <a:solidFill>
            <a:srgbClr val="E8F3FC"/>
          </a:solidFill>
          <a:ln w="12700">
            <a:solidFill>
              <a:srgbClr val="D7E3EF"/>
            </a:solidFill>
          </a:ln>
        </p:spPr>
        <p:txBody>
          <a:bodyPr/>
          <a:lstStyle/>
          <a:p>
            <a:endParaRPr/>
          </a:p>
        </p:txBody>
      </p:sp>
      <p:sp>
        <p:nvSpPr>
          <p:cNvPr id="200" name="t"/>
          <p:cNvSpPr txBox="1"/>
          <p:nvPr/>
        </p:nvSpPr>
        <p:spPr>
          <a:xfrm>
            <a:off x="603504" y="2368296"/>
            <a:ext cx="1856232" cy="365760"/>
          </a:xfrm>
          <a:prstGeom prst="rect">
            <a:avLst/>
          </a:prstGeom>
          <a:noFill/>
        </p:spPr>
        <p:txBody>
          <a:bodyPr wrap="square" lIns="63500" tIns="38100" rIns="63500" bIns="38100" anchor="t">
            <a:normAutofit/>
          </a:bodyPr>
          <a:lstStyle/>
          <a:p>
            <a:pPr algn="ctr">
              <a:lnSpc>
                <a:spcPct val="100000"/>
              </a:lnSpc>
              <a:spcAft>
                <a:spcPts val="300"/>
              </a:spcAft>
            </a:pPr>
            <a:r>
              <a:rPr lang="vi-VN" sz="1300" b="1" i="0" dirty="0">
                <a:solidFill>
                  <a:srgbClr val="002B5C"/>
                </a:solidFill>
                <a:latin typeface="Segoe UI"/>
                <a:cs typeface="Segoe UI"/>
              </a:rPr>
              <a:t>1 · Câu hỏi</a:t>
            </a:r>
          </a:p>
        </p:txBody>
      </p:sp>
      <p:sp>
        <p:nvSpPr>
          <p:cNvPr id="201" name="t"/>
          <p:cNvSpPr txBox="1"/>
          <p:nvPr/>
        </p:nvSpPr>
        <p:spPr>
          <a:xfrm>
            <a:off x="603504" y="2743200"/>
            <a:ext cx="1856232" cy="457200"/>
          </a:xfrm>
          <a:prstGeom prst="rect">
            <a:avLst/>
          </a:prstGeom>
          <a:noFill/>
        </p:spPr>
        <p:txBody>
          <a:bodyPr wrap="square" lIns="63500" tIns="38100" rIns="63500" bIns="38100" anchor="t">
            <a:normAutofit/>
          </a:bodyPr>
          <a:lstStyle/>
          <a:p>
            <a:pPr algn="ctr">
              <a:lnSpc>
                <a:spcPct val="100000"/>
              </a:lnSpc>
              <a:spcAft>
                <a:spcPts val="300"/>
              </a:spcAft>
            </a:pPr>
            <a:r>
              <a:rPr lang="vi-VN" sz="1050" b="0" i="0" dirty="0">
                <a:solidFill>
                  <a:srgbClr val="5A6B7B"/>
                </a:solidFill>
                <a:latin typeface="Segoe UI"/>
                <a:cs typeface="Segoe UI"/>
              </a:rPr>
              <a:t>Ngôn ngữ tự nhiên</a:t>
            </a:r>
          </a:p>
        </p:txBody>
      </p:sp>
      <p:sp>
        <p:nvSpPr>
          <p:cNvPr id="202" name="t"/>
          <p:cNvSpPr txBox="1"/>
          <p:nvPr/>
        </p:nvSpPr>
        <p:spPr>
          <a:xfrm>
            <a:off x="2514600" y="2240280"/>
            <a:ext cx="292608" cy="1051560"/>
          </a:xfrm>
          <a:prstGeom prst="rect">
            <a:avLst/>
          </a:prstGeom>
          <a:noFill/>
        </p:spPr>
        <p:txBody>
          <a:bodyPr wrap="square" lIns="63500" tIns="38100" rIns="63500" bIns="38100" anchor="ctr">
            <a:normAutofit/>
          </a:bodyPr>
          <a:lstStyle/>
          <a:p>
            <a:pPr algn="ctr">
              <a:lnSpc>
                <a:spcPct val="100000"/>
              </a:lnSpc>
              <a:spcAft>
                <a:spcPts val="300"/>
              </a:spcAft>
            </a:pPr>
            <a:r>
              <a:rPr lang="vi-VN" sz="2000" b="1" i="0" dirty="0">
                <a:solidFill>
                  <a:srgbClr val="0070C0"/>
                </a:solidFill>
                <a:latin typeface="Segoe UI"/>
                <a:cs typeface="Segoe UI"/>
              </a:rPr>
              <a:t>→</a:t>
            </a:r>
          </a:p>
        </p:txBody>
      </p:sp>
      <p:sp>
        <p:nvSpPr>
          <p:cNvPr id="203" name="s"/>
          <p:cNvSpPr/>
          <p:nvPr/>
        </p:nvSpPr>
        <p:spPr>
          <a:xfrm>
            <a:off x="2807208" y="2240280"/>
            <a:ext cx="1965960" cy="1051560"/>
          </a:xfrm>
          <a:prstGeom prst="roundRect">
            <a:avLst/>
          </a:prstGeom>
          <a:solidFill>
            <a:srgbClr val="E8F3FC"/>
          </a:solidFill>
          <a:ln w="12700">
            <a:solidFill>
              <a:srgbClr val="D7E3EF"/>
            </a:solidFill>
          </a:ln>
        </p:spPr>
        <p:txBody>
          <a:bodyPr/>
          <a:lstStyle/>
          <a:p>
            <a:endParaRPr/>
          </a:p>
        </p:txBody>
      </p:sp>
      <p:sp>
        <p:nvSpPr>
          <p:cNvPr id="204" name="t"/>
          <p:cNvSpPr txBox="1"/>
          <p:nvPr/>
        </p:nvSpPr>
        <p:spPr>
          <a:xfrm>
            <a:off x="2862072" y="2368296"/>
            <a:ext cx="1856232" cy="365760"/>
          </a:xfrm>
          <a:prstGeom prst="rect">
            <a:avLst/>
          </a:prstGeom>
          <a:noFill/>
        </p:spPr>
        <p:txBody>
          <a:bodyPr wrap="square" lIns="63500" tIns="38100" rIns="63500" bIns="38100" anchor="t">
            <a:normAutofit/>
          </a:bodyPr>
          <a:lstStyle/>
          <a:p>
            <a:pPr algn="ctr">
              <a:lnSpc>
                <a:spcPct val="100000"/>
              </a:lnSpc>
              <a:spcAft>
                <a:spcPts val="300"/>
              </a:spcAft>
            </a:pPr>
            <a:r>
              <a:rPr lang="vi-VN" sz="1300" b="1" i="0" dirty="0">
                <a:solidFill>
                  <a:srgbClr val="002B5C"/>
                </a:solidFill>
                <a:latin typeface="Segoe UI"/>
                <a:cs typeface="Segoe UI"/>
              </a:rPr>
              <a:t>2 · LLM dịch SQL</a:t>
            </a:r>
          </a:p>
        </p:txBody>
      </p:sp>
      <p:sp>
        <p:nvSpPr>
          <p:cNvPr id="205" name="t"/>
          <p:cNvSpPr txBox="1"/>
          <p:nvPr/>
        </p:nvSpPr>
        <p:spPr>
          <a:xfrm>
            <a:off x="2862072" y="2743200"/>
            <a:ext cx="1856232" cy="457200"/>
          </a:xfrm>
          <a:prstGeom prst="rect">
            <a:avLst/>
          </a:prstGeom>
          <a:noFill/>
        </p:spPr>
        <p:txBody>
          <a:bodyPr wrap="square" lIns="63500" tIns="38100" rIns="63500" bIns="38100" anchor="t">
            <a:normAutofit/>
          </a:bodyPr>
          <a:lstStyle/>
          <a:p>
            <a:pPr algn="ctr">
              <a:lnSpc>
                <a:spcPct val="100000"/>
              </a:lnSpc>
              <a:spcAft>
                <a:spcPts val="300"/>
              </a:spcAft>
            </a:pPr>
            <a:r>
              <a:rPr lang="vi-VN" sz="1050" b="0" i="0" dirty="0">
                <a:solidFill>
                  <a:srgbClr val="5A6B7B"/>
                </a:solidFill>
                <a:latin typeface="Segoe UI"/>
                <a:cs typeface="Segoe UI"/>
              </a:rPr>
              <a:t>Bản nháp DRAFT + giải thích</a:t>
            </a:r>
          </a:p>
        </p:txBody>
      </p:sp>
      <p:sp>
        <p:nvSpPr>
          <p:cNvPr id="206" name="t"/>
          <p:cNvSpPr txBox="1"/>
          <p:nvPr/>
        </p:nvSpPr>
        <p:spPr>
          <a:xfrm>
            <a:off x="4773168" y="2240280"/>
            <a:ext cx="292608" cy="1051560"/>
          </a:xfrm>
          <a:prstGeom prst="rect">
            <a:avLst/>
          </a:prstGeom>
          <a:noFill/>
        </p:spPr>
        <p:txBody>
          <a:bodyPr wrap="square" lIns="63500" tIns="38100" rIns="63500" bIns="38100" anchor="ctr">
            <a:normAutofit/>
          </a:bodyPr>
          <a:lstStyle/>
          <a:p>
            <a:pPr algn="ctr">
              <a:lnSpc>
                <a:spcPct val="100000"/>
              </a:lnSpc>
              <a:spcAft>
                <a:spcPts val="300"/>
              </a:spcAft>
            </a:pPr>
            <a:r>
              <a:rPr lang="vi-VN" sz="2000" b="1" i="0" dirty="0">
                <a:solidFill>
                  <a:srgbClr val="0070C0"/>
                </a:solidFill>
                <a:latin typeface="Segoe UI"/>
                <a:cs typeface="Segoe UI"/>
              </a:rPr>
              <a:t>→</a:t>
            </a:r>
          </a:p>
        </p:txBody>
      </p:sp>
      <p:sp>
        <p:nvSpPr>
          <p:cNvPr id="207" name="s"/>
          <p:cNvSpPr/>
          <p:nvPr/>
        </p:nvSpPr>
        <p:spPr>
          <a:xfrm>
            <a:off x="5065776" y="2240280"/>
            <a:ext cx="1965960" cy="1051560"/>
          </a:xfrm>
          <a:prstGeom prst="roundRect">
            <a:avLst/>
          </a:prstGeom>
          <a:solidFill>
            <a:srgbClr val="E8F3FC"/>
          </a:solidFill>
          <a:ln w="12700">
            <a:solidFill>
              <a:srgbClr val="D7E3EF"/>
            </a:solidFill>
          </a:ln>
        </p:spPr>
        <p:txBody>
          <a:bodyPr/>
          <a:lstStyle/>
          <a:p>
            <a:endParaRPr/>
          </a:p>
        </p:txBody>
      </p:sp>
      <p:sp>
        <p:nvSpPr>
          <p:cNvPr id="208" name="t"/>
          <p:cNvSpPr txBox="1"/>
          <p:nvPr/>
        </p:nvSpPr>
        <p:spPr>
          <a:xfrm>
            <a:off x="5120640" y="2368296"/>
            <a:ext cx="1856232" cy="365760"/>
          </a:xfrm>
          <a:prstGeom prst="rect">
            <a:avLst/>
          </a:prstGeom>
          <a:noFill/>
        </p:spPr>
        <p:txBody>
          <a:bodyPr wrap="square" lIns="63500" tIns="38100" rIns="63500" bIns="38100" anchor="t">
            <a:normAutofit/>
          </a:bodyPr>
          <a:lstStyle/>
          <a:p>
            <a:pPr algn="ctr">
              <a:lnSpc>
                <a:spcPct val="100000"/>
              </a:lnSpc>
              <a:spcAft>
                <a:spcPts val="300"/>
              </a:spcAft>
            </a:pPr>
            <a:r>
              <a:rPr lang="vi-VN" sz="1300" b="1" i="0" dirty="0">
                <a:solidFill>
                  <a:srgbClr val="002B5C"/>
                </a:solidFill>
                <a:latin typeface="Segoe UI"/>
                <a:cs typeface="Segoe UI"/>
              </a:rPr>
              <a:t>3 · Người duyệt</a:t>
            </a:r>
          </a:p>
        </p:txBody>
      </p:sp>
      <p:sp>
        <p:nvSpPr>
          <p:cNvPr id="209" name="t"/>
          <p:cNvSpPr txBox="1"/>
          <p:nvPr/>
        </p:nvSpPr>
        <p:spPr>
          <a:xfrm>
            <a:off x="5120640" y="2743200"/>
            <a:ext cx="1856232" cy="457200"/>
          </a:xfrm>
          <a:prstGeom prst="rect">
            <a:avLst/>
          </a:prstGeom>
          <a:noFill/>
        </p:spPr>
        <p:txBody>
          <a:bodyPr wrap="square" lIns="63500" tIns="38100" rIns="63500" bIns="38100" anchor="t">
            <a:normAutofit/>
          </a:bodyPr>
          <a:lstStyle/>
          <a:p>
            <a:pPr algn="ctr">
              <a:lnSpc>
                <a:spcPct val="100000"/>
              </a:lnSpc>
              <a:spcAft>
                <a:spcPts val="300"/>
              </a:spcAft>
            </a:pPr>
            <a:r>
              <a:rPr lang="vi-VN" sz="1050" b="0" i="0" dirty="0">
                <a:solidFill>
                  <a:srgbClr val="5A6B7B"/>
                </a:solidFill>
                <a:latin typeface="Segoe UI"/>
                <a:cs typeface="Segoe UI"/>
              </a:rPr>
              <a:t>Rà soát, chỉnh sửa</a:t>
            </a:r>
          </a:p>
        </p:txBody>
      </p:sp>
      <p:sp>
        <p:nvSpPr>
          <p:cNvPr id="210" name="t"/>
          <p:cNvSpPr txBox="1"/>
          <p:nvPr/>
        </p:nvSpPr>
        <p:spPr>
          <a:xfrm>
            <a:off x="7031736" y="2240280"/>
            <a:ext cx="292608" cy="1051560"/>
          </a:xfrm>
          <a:prstGeom prst="rect">
            <a:avLst/>
          </a:prstGeom>
          <a:noFill/>
        </p:spPr>
        <p:txBody>
          <a:bodyPr wrap="square" lIns="63500" tIns="38100" rIns="63500" bIns="38100" anchor="ctr">
            <a:normAutofit/>
          </a:bodyPr>
          <a:lstStyle/>
          <a:p>
            <a:pPr algn="ctr">
              <a:lnSpc>
                <a:spcPct val="100000"/>
              </a:lnSpc>
              <a:spcAft>
                <a:spcPts val="300"/>
              </a:spcAft>
            </a:pPr>
            <a:r>
              <a:rPr lang="vi-VN" sz="2000" b="1" i="0" dirty="0">
                <a:solidFill>
                  <a:srgbClr val="0070C0"/>
                </a:solidFill>
                <a:latin typeface="Segoe UI"/>
                <a:cs typeface="Segoe UI"/>
              </a:rPr>
              <a:t>→</a:t>
            </a:r>
          </a:p>
        </p:txBody>
      </p:sp>
      <p:sp>
        <p:nvSpPr>
          <p:cNvPr id="211" name="s"/>
          <p:cNvSpPr/>
          <p:nvPr/>
        </p:nvSpPr>
        <p:spPr>
          <a:xfrm>
            <a:off x="7324344" y="2240280"/>
            <a:ext cx="1965960" cy="1051560"/>
          </a:xfrm>
          <a:prstGeom prst="roundRect">
            <a:avLst/>
          </a:prstGeom>
          <a:solidFill>
            <a:srgbClr val="E8F3FC"/>
          </a:solidFill>
          <a:ln w="12700">
            <a:solidFill>
              <a:srgbClr val="D7E3EF"/>
            </a:solidFill>
          </a:ln>
        </p:spPr>
        <p:txBody>
          <a:bodyPr/>
          <a:lstStyle/>
          <a:p>
            <a:endParaRPr/>
          </a:p>
        </p:txBody>
      </p:sp>
      <p:sp>
        <p:nvSpPr>
          <p:cNvPr id="212" name="t"/>
          <p:cNvSpPr txBox="1"/>
          <p:nvPr/>
        </p:nvSpPr>
        <p:spPr>
          <a:xfrm>
            <a:off x="7379208" y="2368296"/>
            <a:ext cx="1856232" cy="365760"/>
          </a:xfrm>
          <a:prstGeom prst="rect">
            <a:avLst/>
          </a:prstGeom>
          <a:noFill/>
        </p:spPr>
        <p:txBody>
          <a:bodyPr wrap="square" lIns="63500" tIns="38100" rIns="63500" bIns="38100" anchor="t">
            <a:normAutofit/>
          </a:bodyPr>
          <a:lstStyle/>
          <a:p>
            <a:pPr algn="ctr">
              <a:lnSpc>
                <a:spcPct val="100000"/>
              </a:lnSpc>
              <a:spcAft>
                <a:spcPts val="300"/>
              </a:spcAft>
            </a:pPr>
            <a:r>
              <a:rPr lang="vi-VN" sz="1300" b="1" i="0" dirty="0">
                <a:solidFill>
                  <a:srgbClr val="002B5C"/>
                </a:solidFill>
                <a:latin typeface="Segoe UI"/>
                <a:cs typeface="Segoe UI"/>
              </a:rPr>
              <a:t>4 · SQL Guard</a:t>
            </a:r>
          </a:p>
        </p:txBody>
      </p:sp>
      <p:sp>
        <p:nvSpPr>
          <p:cNvPr id="213" name="t"/>
          <p:cNvSpPr txBox="1"/>
          <p:nvPr/>
        </p:nvSpPr>
        <p:spPr>
          <a:xfrm>
            <a:off x="7379208" y="2743200"/>
            <a:ext cx="1856232" cy="457200"/>
          </a:xfrm>
          <a:prstGeom prst="rect">
            <a:avLst/>
          </a:prstGeom>
          <a:noFill/>
        </p:spPr>
        <p:txBody>
          <a:bodyPr wrap="square" lIns="63500" tIns="38100" rIns="63500" bIns="38100" anchor="t">
            <a:normAutofit/>
          </a:bodyPr>
          <a:lstStyle/>
          <a:p>
            <a:pPr algn="ctr">
              <a:lnSpc>
                <a:spcPct val="100000"/>
              </a:lnSpc>
              <a:spcAft>
                <a:spcPts val="300"/>
              </a:spcAft>
            </a:pPr>
            <a:r>
              <a:rPr lang="vi-VN" sz="1050" b="0" i="0" dirty="0">
                <a:solidFill>
                  <a:srgbClr val="5A6B7B"/>
                </a:solidFill>
                <a:latin typeface="Segoe UI"/>
                <a:cs typeface="Segoe UI"/>
              </a:rPr>
              <a:t>Kiểm tra an toàn</a:t>
            </a:r>
          </a:p>
        </p:txBody>
      </p:sp>
      <p:sp>
        <p:nvSpPr>
          <p:cNvPr id="214" name="t"/>
          <p:cNvSpPr txBox="1"/>
          <p:nvPr/>
        </p:nvSpPr>
        <p:spPr>
          <a:xfrm>
            <a:off x="9290304" y="2240280"/>
            <a:ext cx="292608" cy="1051560"/>
          </a:xfrm>
          <a:prstGeom prst="rect">
            <a:avLst/>
          </a:prstGeom>
          <a:noFill/>
        </p:spPr>
        <p:txBody>
          <a:bodyPr wrap="square" lIns="63500" tIns="38100" rIns="63500" bIns="38100" anchor="ctr">
            <a:normAutofit/>
          </a:bodyPr>
          <a:lstStyle/>
          <a:p>
            <a:pPr algn="ctr">
              <a:lnSpc>
                <a:spcPct val="100000"/>
              </a:lnSpc>
              <a:spcAft>
                <a:spcPts val="300"/>
              </a:spcAft>
            </a:pPr>
            <a:r>
              <a:rPr lang="vi-VN" sz="2000" b="1" i="0" dirty="0">
                <a:solidFill>
                  <a:srgbClr val="0070C0"/>
                </a:solidFill>
                <a:latin typeface="Segoe UI"/>
                <a:cs typeface="Segoe UI"/>
              </a:rPr>
              <a:t>→</a:t>
            </a:r>
          </a:p>
        </p:txBody>
      </p:sp>
      <p:sp>
        <p:nvSpPr>
          <p:cNvPr id="215" name="s"/>
          <p:cNvSpPr/>
          <p:nvPr/>
        </p:nvSpPr>
        <p:spPr>
          <a:xfrm>
            <a:off x="9582912" y="2240280"/>
            <a:ext cx="1965960" cy="1051560"/>
          </a:xfrm>
          <a:prstGeom prst="roundRect">
            <a:avLst/>
          </a:prstGeom>
          <a:solidFill>
            <a:srgbClr val="E8F3FC"/>
          </a:solidFill>
          <a:ln w="12700">
            <a:solidFill>
              <a:srgbClr val="D7E3EF"/>
            </a:solidFill>
          </a:ln>
        </p:spPr>
        <p:txBody>
          <a:bodyPr/>
          <a:lstStyle/>
          <a:p>
            <a:endParaRPr/>
          </a:p>
        </p:txBody>
      </p:sp>
      <p:sp>
        <p:nvSpPr>
          <p:cNvPr id="216" name="t"/>
          <p:cNvSpPr txBox="1"/>
          <p:nvPr/>
        </p:nvSpPr>
        <p:spPr>
          <a:xfrm>
            <a:off x="9637776" y="2368296"/>
            <a:ext cx="1856232" cy="365760"/>
          </a:xfrm>
          <a:prstGeom prst="rect">
            <a:avLst/>
          </a:prstGeom>
          <a:noFill/>
        </p:spPr>
        <p:txBody>
          <a:bodyPr wrap="square" lIns="63500" tIns="38100" rIns="63500" bIns="38100" anchor="t">
            <a:normAutofit/>
          </a:bodyPr>
          <a:lstStyle/>
          <a:p>
            <a:pPr algn="ctr">
              <a:lnSpc>
                <a:spcPct val="100000"/>
              </a:lnSpc>
              <a:spcAft>
                <a:spcPts val="300"/>
              </a:spcAft>
            </a:pPr>
            <a:r>
              <a:rPr lang="vi-VN" sz="1300" b="1" i="0" dirty="0">
                <a:solidFill>
                  <a:srgbClr val="002B5C"/>
                </a:solidFill>
                <a:latin typeface="Segoe UI"/>
                <a:cs typeface="Segoe UI"/>
              </a:rPr>
              <a:t>5 · DuckDB chạy</a:t>
            </a:r>
          </a:p>
        </p:txBody>
      </p:sp>
      <p:sp>
        <p:nvSpPr>
          <p:cNvPr id="217" name="t"/>
          <p:cNvSpPr txBox="1"/>
          <p:nvPr/>
        </p:nvSpPr>
        <p:spPr>
          <a:xfrm>
            <a:off x="9637776" y="2743200"/>
            <a:ext cx="1856232" cy="457200"/>
          </a:xfrm>
          <a:prstGeom prst="rect">
            <a:avLst/>
          </a:prstGeom>
          <a:noFill/>
        </p:spPr>
        <p:txBody>
          <a:bodyPr wrap="square" lIns="63500" tIns="38100" rIns="63500" bIns="38100" anchor="t">
            <a:normAutofit/>
          </a:bodyPr>
          <a:lstStyle/>
          <a:p>
            <a:pPr algn="ctr">
              <a:lnSpc>
                <a:spcPct val="100000"/>
              </a:lnSpc>
              <a:spcAft>
                <a:spcPts val="300"/>
              </a:spcAft>
            </a:pPr>
            <a:r>
              <a:rPr lang="vi-VN" sz="1050" b="0" i="0" dirty="0">
                <a:solidFill>
                  <a:srgbClr val="5A6B7B"/>
                </a:solidFill>
                <a:latin typeface="Segoe UI"/>
                <a:cs typeface="Segoe UI"/>
              </a:rPr>
              <a:t>Trả bảng + Audit log</a:t>
            </a:r>
          </a:p>
        </p:txBody>
      </p:sp>
      <p:sp>
        <p:nvSpPr>
          <p:cNvPr id="218" name="s"/>
          <p:cNvSpPr/>
          <p:nvPr/>
        </p:nvSpPr>
        <p:spPr>
          <a:xfrm>
            <a:off x="548639" y="3794760"/>
            <a:ext cx="2561811" cy="1737360"/>
          </a:xfrm>
          <a:prstGeom prst="roundRect">
            <a:avLst/>
          </a:prstGeom>
          <a:solidFill>
            <a:srgbClr val="FFFFFF"/>
          </a:solidFill>
          <a:ln w="12700">
            <a:solidFill>
              <a:srgbClr val="D7E3EF"/>
            </a:solidFill>
          </a:ln>
        </p:spPr>
        <p:txBody>
          <a:bodyPr/>
          <a:lstStyle/>
          <a:p>
            <a:endParaRPr/>
          </a:p>
        </p:txBody>
      </p:sp>
      <p:sp>
        <p:nvSpPr>
          <p:cNvPr id="219" name="t"/>
          <p:cNvSpPr txBox="1"/>
          <p:nvPr/>
        </p:nvSpPr>
        <p:spPr>
          <a:xfrm>
            <a:off x="713232" y="3922776"/>
            <a:ext cx="2322265" cy="365760"/>
          </a:xfrm>
          <a:prstGeom prst="rect">
            <a:avLst/>
          </a:prstGeom>
          <a:noFill/>
        </p:spPr>
        <p:txBody>
          <a:bodyPr wrap="square" lIns="63500" tIns="38100" rIns="63500" bIns="38100" anchor="t">
            <a:normAutofit/>
          </a:bodyPr>
          <a:lstStyle/>
          <a:p>
            <a:pPr algn="l">
              <a:lnSpc>
                <a:spcPct val="100000"/>
              </a:lnSpc>
              <a:spcAft>
                <a:spcPts val="300"/>
              </a:spcAft>
            </a:pPr>
            <a:r>
              <a:rPr lang="vi-VN" sz="1500" b="1" i="0" dirty="0">
                <a:solidFill>
                  <a:srgbClr val="005BA1"/>
                </a:solidFill>
                <a:latin typeface="Segoe UI"/>
                <a:cs typeface="Segoe UI"/>
              </a:rPr>
              <a:t>Chỉ đọc (SELECT)</a:t>
            </a:r>
          </a:p>
        </p:txBody>
      </p:sp>
      <p:sp>
        <p:nvSpPr>
          <p:cNvPr id="220" name="t"/>
          <p:cNvSpPr txBox="1"/>
          <p:nvPr/>
        </p:nvSpPr>
        <p:spPr>
          <a:xfrm>
            <a:off x="713232" y="4343400"/>
            <a:ext cx="2322265" cy="1097280"/>
          </a:xfrm>
          <a:prstGeom prst="rect">
            <a:avLst/>
          </a:prstGeom>
          <a:noFill/>
        </p:spPr>
        <p:txBody>
          <a:bodyPr wrap="square" lIns="63500" tIns="38100" rIns="63500" bIns="38100" anchor="t">
            <a:normAutofit/>
          </a:bodyPr>
          <a:lstStyle/>
          <a:p>
            <a:pPr algn="l">
              <a:lnSpc>
                <a:spcPct val="108000"/>
              </a:lnSpc>
              <a:spcAft>
                <a:spcPts val="300"/>
              </a:spcAft>
            </a:pPr>
            <a:r>
              <a:rPr lang="vi-VN" sz="1250" b="0" i="0" dirty="0">
                <a:solidFill>
                  <a:srgbClr val="5A6B7B"/>
                </a:solidFill>
                <a:latin typeface="Segoe UI"/>
                <a:cs typeface="Segoe UI"/>
              </a:rPr>
              <a:t>Bắt buộc bắt đầu bằng lệnh truy xuất dữ liệu an toàn.</a:t>
            </a:r>
          </a:p>
        </p:txBody>
      </p:sp>
      <p:sp>
        <p:nvSpPr>
          <p:cNvPr id="221" name="s"/>
          <p:cNvSpPr/>
          <p:nvPr/>
        </p:nvSpPr>
        <p:spPr>
          <a:xfrm>
            <a:off x="3275044" y="3813048"/>
            <a:ext cx="2578607" cy="1737360"/>
          </a:xfrm>
          <a:prstGeom prst="roundRect">
            <a:avLst/>
          </a:prstGeom>
          <a:solidFill>
            <a:srgbClr val="FFFFFF"/>
          </a:solidFill>
          <a:ln w="12700">
            <a:solidFill>
              <a:srgbClr val="D7E3EF"/>
            </a:solidFill>
          </a:ln>
        </p:spPr>
        <p:txBody>
          <a:bodyPr/>
          <a:lstStyle/>
          <a:p>
            <a:endParaRPr/>
          </a:p>
        </p:txBody>
      </p:sp>
      <p:sp>
        <p:nvSpPr>
          <p:cNvPr id="222" name="t"/>
          <p:cNvSpPr txBox="1"/>
          <p:nvPr/>
        </p:nvSpPr>
        <p:spPr>
          <a:xfrm>
            <a:off x="3416411" y="3941064"/>
            <a:ext cx="2337491" cy="365760"/>
          </a:xfrm>
          <a:prstGeom prst="rect">
            <a:avLst/>
          </a:prstGeom>
          <a:noFill/>
        </p:spPr>
        <p:txBody>
          <a:bodyPr wrap="square" lIns="63500" tIns="38100" rIns="63500" bIns="38100" anchor="t">
            <a:normAutofit/>
          </a:bodyPr>
          <a:lstStyle/>
          <a:p>
            <a:pPr algn="l">
              <a:lnSpc>
                <a:spcPct val="100000"/>
              </a:lnSpc>
              <a:spcAft>
                <a:spcPts val="300"/>
              </a:spcAft>
            </a:pPr>
            <a:r>
              <a:rPr lang="vi-VN" sz="1500" b="1" i="0" dirty="0">
                <a:solidFill>
                  <a:srgbClr val="005BA1"/>
                </a:solidFill>
                <a:latin typeface="Segoe UI"/>
                <a:cs typeface="Segoe UI"/>
              </a:rPr>
              <a:t>Danh sách cấm</a:t>
            </a:r>
          </a:p>
        </p:txBody>
      </p:sp>
      <p:sp>
        <p:nvSpPr>
          <p:cNvPr id="223" name="t"/>
          <p:cNvSpPr txBox="1"/>
          <p:nvPr/>
        </p:nvSpPr>
        <p:spPr>
          <a:xfrm>
            <a:off x="3416411" y="4361688"/>
            <a:ext cx="2337491" cy="1097280"/>
          </a:xfrm>
          <a:prstGeom prst="rect">
            <a:avLst/>
          </a:prstGeom>
          <a:noFill/>
        </p:spPr>
        <p:txBody>
          <a:bodyPr wrap="square" lIns="63500" tIns="38100" rIns="63500" bIns="38100" anchor="t">
            <a:normAutofit/>
          </a:bodyPr>
          <a:lstStyle/>
          <a:p>
            <a:pPr algn="l">
              <a:lnSpc>
                <a:spcPct val="108000"/>
              </a:lnSpc>
              <a:spcAft>
                <a:spcPts val="300"/>
              </a:spcAft>
            </a:pPr>
            <a:r>
              <a:rPr lang="vi-VN" sz="1250" b="0" i="0" dirty="0">
                <a:solidFill>
                  <a:srgbClr val="5A6B7B"/>
                </a:solidFill>
                <a:latin typeface="Segoe UI"/>
                <a:cs typeface="Segoe UI"/>
              </a:rPr>
              <a:t>Chặn mọi lệnh ghi/xóa/sửa cấu trúc dữ liệu.</a:t>
            </a:r>
          </a:p>
        </p:txBody>
      </p:sp>
      <p:sp>
        <p:nvSpPr>
          <p:cNvPr id="224" name="s"/>
          <p:cNvSpPr/>
          <p:nvPr/>
        </p:nvSpPr>
        <p:spPr>
          <a:xfrm>
            <a:off x="6018244" y="3794760"/>
            <a:ext cx="2595403" cy="1737360"/>
          </a:xfrm>
          <a:prstGeom prst="roundRect">
            <a:avLst/>
          </a:prstGeom>
          <a:solidFill>
            <a:srgbClr val="FFFFFF"/>
          </a:solidFill>
          <a:ln w="12700">
            <a:solidFill>
              <a:srgbClr val="D7E3EF"/>
            </a:solidFill>
          </a:ln>
        </p:spPr>
        <p:txBody>
          <a:bodyPr/>
          <a:lstStyle/>
          <a:p>
            <a:endParaRPr/>
          </a:p>
        </p:txBody>
      </p:sp>
      <p:sp>
        <p:nvSpPr>
          <p:cNvPr id="225" name="t"/>
          <p:cNvSpPr txBox="1"/>
          <p:nvPr/>
        </p:nvSpPr>
        <p:spPr>
          <a:xfrm>
            <a:off x="6127120" y="3922776"/>
            <a:ext cx="2352716" cy="365760"/>
          </a:xfrm>
          <a:prstGeom prst="rect">
            <a:avLst/>
          </a:prstGeom>
          <a:noFill/>
        </p:spPr>
        <p:txBody>
          <a:bodyPr wrap="square" lIns="63500" tIns="38100" rIns="63500" bIns="38100" anchor="t">
            <a:normAutofit/>
          </a:bodyPr>
          <a:lstStyle/>
          <a:p>
            <a:pPr algn="l">
              <a:lnSpc>
                <a:spcPct val="100000"/>
              </a:lnSpc>
              <a:spcAft>
                <a:spcPts val="300"/>
              </a:spcAft>
            </a:pPr>
            <a:r>
              <a:rPr lang="vi-VN" sz="1500" b="1" i="0" dirty="0">
                <a:solidFill>
                  <a:srgbClr val="005BA1"/>
                </a:solidFill>
                <a:latin typeface="Segoe UI"/>
                <a:cs typeface="Segoe UI"/>
              </a:rPr>
              <a:t>Chặn đa lệnh</a:t>
            </a:r>
          </a:p>
        </p:txBody>
      </p:sp>
      <p:sp>
        <p:nvSpPr>
          <p:cNvPr id="226" name="t"/>
          <p:cNvSpPr txBox="1"/>
          <p:nvPr/>
        </p:nvSpPr>
        <p:spPr>
          <a:xfrm>
            <a:off x="6127120" y="4343400"/>
            <a:ext cx="2352716" cy="1097280"/>
          </a:xfrm>
          <a:prstGeom prst="rect">
            <a:avLst/>
          </a:prstGeom>
          <a:noFill/>
        </p:spPr>
        <p:txBody>
          <a:bodyPr wrap="square" lIns="63500" tIns="38100" rIns="63500" bIns="38100" anchor="t">
            <a:normAutofit/>
          </a:bodyPr>
          <a:lstStyle/>
          <a:p>
            <a:pPr algn="l">
              <a:lnSpc>
                <a:spcPct val="108000"/>
              </a:lnSpc>
              <a:spcAft>
                <a:spcPts val="300"/>
              </a:spcAft>
            </a:pPr>
            <a:r>
              <a:rPr lang="vi-VN" sz="1250" b="0" i="0" dirty="0">
                <a:solidFill>
                  <a:srgbClr val="5A6B7B"/>
                </a:solidFill>
                <a:latin typeface="Segoe UI"/>
                <a:cs typeface="Segoe UI"/>
              </a:rPr>
              <a:t>Chỉ một truy vấn đơn mỗi phiên — không SQL injection.</a:t>
            </a:r>
          </a:p>
        </p:txBody>
      </p:sp>
      <p:sp>
        <p:nvSpPr>
          <p:cNvPr id="227" name="s"/>
          <p:cNvSpPr/>
          <p:nvPr/>
        </p:nvSpPr>
        <p:spPr>
          <a:xfrm>
            <a:off x="548640" y="6327648"/>
            <a:ext cx="11091672" cy="12802"/>
          </a:xfrm>
          <a:prstGeom prst="rect">
            <a:avLst/>
          </a:prstGeom>
          <a:solidFill>
            <a:srgbClr val="D7E3EF"/>
          </a:solidFill>
          <a:ln>
            <a:noFill/>
          </a:ln>
        </p:spPr>
        <p:txBody>
          <a:bodyPr/>
          <a:lstStyle/>
          <a:p>
            <a:endParaRPr/>
          </a:p>
        </p:txBody>
      </p:sp>
      <p:sp>
        <p:nvSpPr>
          <p:cNvPr id="228" name="t"/>
          <p:cNvSpPr txBox="1"/>
          <p:nvPr/>
        </p:nvSpPr>
        <p:spPr>
          <a:xfrm>
            <a:off x="548640" y="6373368"/>
            <a:ext cx="8229600" cy="320040"/>
          </a:xfrm>
          <a:prstGeom prst="rect">
            <a:avLst/>
          </a:prstGeom>
          <a:noFill/>
        </p:spPr>
        <p:txBody>
          <a:bodyPr wrap="square" lIns="63500" tIns="38100" rIns="63500" bIns="38100" anchor="ctr">
            <a:normAutofit/>
          </a:bodyPr>
          <a:lstStyle/>
          <a:p>
            <a:pPr algn="l">
              <a:lnSpc>
                <a:spcPct val="100000"/>
              </a:lnSpc>
              <a:spcAft>
                <a:spcPts val="300"/>
              </a:spcAft>
            </a:pPr>
            <a:r>
              <a:rPr lang="vi-VN" sz="1200" b="1" i="0" dirty="0">
                <a:solidFill>
                  <a:srgbClr val="005BA1"/>
                </a:solidFill>
                <a:latin typeface="Segoe UI"/>
                <a:cs typeface="Segoe UI"/>
              </a:rPr>
              <a:t>Tích hợp AI · Human-in-the-loop</a:t>
            </a:r>
          </a:p>
        </p:txBody>
      </p:sp>
      <p:sp>
        <p:nvSpPr>
          <p:cNvPr id="229" name="t"/>
          <p:cNvSpPr txBox="1"/>
          <p:nvPr/>
        </p:nvSpPr>
        <p:spPr>
          <a:xfrm>
            <a:off x="10515600" y="6373368"/>
            <a:ext cx="1124712" cy="320040"/>
          </a:xfrm>
          <a:prstGeom prst="rect">
            <a:avLst/>
          </a:prstGeom>
          <a:noFill/>
        </p:spPr>
        <p:txBody>
          <a:bodyPr wrap="square" lIns="63500" tIns="38100" rIns="63500" bIns="38100" anchor="ctr">
            <a:normAutofit/>
          </a:bodyPr>
          <a:lstStyle/>
          <a:p>
            <a:pPr algn="r">
              <a:lnSpc>
                <a:spcPct val="100000"/>
              </a:lnSpc>
              <a:spcAft>
                <a:spcPts val="300"/>
              </a:spcAft>
            </a:pPr>
            <a:r>
              <a:rPr lang="vi-VN" sz="1300" b="1" i="0" dirty="0">
                <a:solidFill>
                  <a:srgbClr val="002B5C"/>
                </a:solidFill>
                <a:latin typeface="Segoe UI"/>
                <a:cs typeface="Segoe UI"/>
              </a:rPr>
              <a:t>9</a:t>
            </a:r>
          </a:p>
        </p:txBody>
      </p:sp>
      <p:sp>
        <p:nvSpPr>
          <p:cNvPr id="39" name="s"/>
          <p:cNvSpPr/>
          <p:nvPr/>
        </p:nvSpPr>
        <p:spPr>
          <a:xfrm>
            <a:off x="8778239" y="3785616"/>
            <a:ext cx="2720869" cy="1737360"/>
          </a:xfrm>
          <a:prstGeom prst="roundRect">
            <a:avLst/>
          </a:prstGeom>
          <a:solidFill>
            <a:srgbClr val="FFFFFF"/>
          </a:solidFill>
          <a:ln w="12700">
            <a:solidFill>
              <a:srgbClr val="D7E3EF"/>
            </a:solidFill>
          </a:ln>
        </p:spPr>
        <p:txBody>
          <a:bodyPr/>
          <a:lstStyle/>
          <a:p>
            <a:endParaRPr/>
          </a:p>
        </p:txBody>
      </p:sp>
      <p:sp>
        <p:nvSpPr>
          <p:cNvPr id="40" name="t"/>
          <p:cNvSpPr txBox="1"/>
          <p:nvPr/>
        </p:nvSpPr>
        <p:spPr>
          <a:xfrm>
            <a:off x="8868067" y="3913632"/>
            <a:ext cx="2466450" cy="365760"/>
          </a:xfrm>
          <a:prstGeom prst="rect">
            <a:avLst/>
          </a:prstGeom>
          <a:noFill/>
        </p:spPr>
        <p:txBody>
          <a:bodyPr wrap="square" lIns="63500" tIns="38100" rIns="63500" bIns="38100" anchor="t">
            <a:normAutofit/>
          </a:bodyPr>
          <a:lstStyle/>
          <a:p>
            <a:pPr>
              <a:spcAft>
                <a:spcPts val="300"/>
              </a:spcAft>
            </a:pPr>
            <a:r>
              <a:rPr lang="vi-VN" sz="1500" b="1" dirty="0">
                <a:solidFill>
                  <a:srgbClr val="005BA1"/>
                </a:solidFill>
                <a:cs typeface="Segoe UI"/>
              </a:rPr>
              <a:t>Guard cho Python</a:t>
            </a:r>
          </a:p>
          <a:p>
            <a:pPr>
              <a:spcAft>
                <a:spcPts val="300"/>
              </a:spcAft>
            </a:pPr>
            <a:endParaRPr lang="vi-VN" sz="1500" b="1" dirty="0">
              <a:solidFill>
                <a:srgbClr val="005BA1"/>
              </a:solidFill>
              <a:cs typeface="Segoe UI"/>
            </a:endParaRPr>
          </a:p>
        </p:txBody>
      </p:sp>
      <p:sp>
        <p:nvSpPr>
          <p:cNvPr id="41" name="t"/>
          <p:cNvSpPr txBox="1"/>
          <p:nvPr/>
        </p:nvSpPr>
        <p:spPr>
          <a:xfrm>
            <a:off x="8868067" y="4334256"/>
            <a:ext cx="2466450" cy="1097280"/>
          </a:xfrm>
          <a:prstGeom prst="rect">
            <a:avLst/>
          </a:prstGeom>
          <a:noFill/>
        </p:spPr>
        <p:txBody>
          <a:bodyPr wrap="square" lIns="63500" tIns="38100" rIns="63500" bIns="38100" anchor="t">
            <a:normAutofit/>
          </a:bodyPr>
          <a:lstStyle/>
          <a:p>
            <a:pPr>
              <a:lnSpc>
                <a:spcPct val="108000"/>
              </a:lnSpc>
              <a:spcAft>
                <a:spcPts val="300"/>
              </a:spcAft>
            </a:pPr>
            <a:r>
              <a:rPr lang="vi-VN" sz="1250" dirty="0" smtClean="0">
                <a:solidFill>
                  <a:srgbClr val="5A6B7B"/>
                </a:solidFill>
                <a:cs typeface="Segoe UI"/>
              </a:rPr>
              <a:t>Phân </a:t>
            </a:r>
            <a:r>
              <a:rPr lang="vi-VN" sz="1250" dirty="0">
                <a:solidFill>
                  <a:srgbClr val="5A6B7B"/>
                </a:solidFill>
                <a:cs typeface="Segoe UI"/>
              </a:rPr>
              <a:t>tích cú pháp AST, chặn import/eval/exec và đọc/ghi tệp.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s"/>
          <p:cNvSpPr/>
          <p:nvPr/>
        </p:nvSpPr>
        <p:spPr>
          <a:xfrm>
            <a:off x="0" y="0"/>
            <a:ext cx="12191695" cy="100584"/>
          </a:xfrm>
          <a:prstGeom prst="rect">
            <a:avLst/>
          </a:prstGeom>
          <a:solidFill>
            <a:srgbClr val="0070C0"/>
          </a:solidFill>
          <a:ln>
            <a:noFill/>
          </a:ln>
        </p:spPr>
        <p:txBody>
          <a:bodyPr/>
          <a:lstStyle/>
          <a:p>
            <a:endParaRPr/>
          </a:p>
        </p:txBody>
      </p:sp>
      <p:sp>
        <p:nvSpPr>
          <p:cNvPr id="231" name="t"/>
          <p:cNvSpPr txBox="1"/>
          <p:nvPr/>
        </p:nvSpPr>
        <p:spPr>
          <a:xfrm>
            <a:off x="548640" y="384048"/>
            <a:ext cx="10058400" cy="274320"/>
          </a:xfrm>
          <a:prstGeom prst="rect">
            <a:avLst/>
          </a:prstGeom>
          <a:noFill/>
        </p:spPr>
        <p:txBody>
          <a:bodyPr wrap="square" lIns="63500" tIns="38100" rIns="63500" bIns="38100" anchor="t">
            <a:normAutofit/>
          </a:bodyPr>
          <a:lstStyle/>
          <a:p>
            <a:pPr algn="l">
              <a:lnSpc>
                <a:spcPct val="100000"/>
              </a:lnSpc>
              <a:spcAft>
                <a:spcPts val="300"/>
              </a:spcAft>
            </a:pPr>
            <a:r>
              <a:rPr lang="vi-VN" sz="1150" b="1" i="0" dirty="0">
                <a:solidFill>
                  <a:srgbClr val="0070C0"/>
                </a:solidFill>
                <a:latin typeface="Segoe UI"/>
                <a:cs typeface="Segoe UI"/>
              </a:rPr>
              <a:t>KIỂM THỬ &amp; KẾT LUẬN</a:t>
            </a:r>
          </a:p>
        </p:txBody>
      </p:sp>
      <p:sp>
        <p:nvSpPr>
          <p:cNvPr id="232" name="t"/>
          <p:cNvSpPr txBox="1"/>
          <p:nvPr/>
        </p:nvSpPr>
        <p:spPr>
          <a:xfrm>
            <a:off x="548640" y="658368"/>
            <a:ext cx="10972800" cy="640080"/>
          </a:xfrm>
          <a:prstGeom prst="rect">
            <a:avLst/>
          </a:prstGeom>
          <a:noFill/>
        </p:spPr>
        <p:txBody>
          <a:bodyPr wrap="square" lIns="63500" tIns="38100" rIns="63500" bIns="38100" anchor="t">
            <a:normAutofit/>
          </a:bodyPr>
          <a:lstStyle/>
          <a:p>
            <a:pPr algn="l">
              <a:lnSpc>
                <a:spcPct val="100000"/>
              </a:lnSpc>
              <a:spcAft>
                <a:spcPts val="300"/>
              </a:spcAft>
            </a:pPr>
            <a:r>
              <a:rPr lang="vi-VN" sz="2500" b="1" i="0" dirty="0">
                <a:solidFill>
                  <a:srgbClr val="002B5C"/>
                </a:solidFill>
                <a:latin typeface="Segoe UI"/>
                <a:cs typeface="Segoe UI"/>
              </a:rPr>
              <a:t>Vận hành an toàn — hướng đi tiếp theo</a:t>
            </a:r>
          </a:p>
        </p:txBody>
      </p:sp>
      <p:sp>
        <p:nvSpPr>
          <p:cNvPr id="233" name="s"/>
          <p:cNvSpPr/>
          <p:nvPr/>
        </p:nvSpPr>
        <p:spPr>
          <a:xfrm>
            <a:off x="566928" y="1298448"/>
            <a:ext cx="822960" cy="45720"/>
          </a:xfrm>
          <a:prstGeom prst="rect">
            <a:avLst/>
          </a:prstGeom>
          <a:solidFill>
            <a:srgbClr val="0070C0"/>
          </a:solidFill>
          <a:ln>
            <a:noFill/>
          </a:ln>
        </p:spPr>
        <p:txBody>
          <a:bodyPr/>
          <a:lstStyle/>
          <a:p>
            <a:endParaRPr/>
          </a:p>
        </p:txBody>
      </p:sp>
      <p:sp>
        <p:nvSpPr>
          <p:cNvPr id="234" name="s"/>
          <p:cNvSpPr/>
          <p:nvPr/>
        </p:nvSpPr>
        <p:spPr>
          <a:xfrm>
            <a:off x="548640" y="1554480"/>
            <a:ext cx="3520440" cy="1234440"/>
          </a:xfrm>
          <a:prstGeom prst="roundRect">
            <a:avLst/>
          </a:prstGeom>
          <a:solidFill>
            <a:srgbClr val="F2F8FE"/>
          </a:solidFill>
          <a:ln w="12700">
            <a:solidFill>
              <a:srgbClr val="D7E3EF"/>
            </a:solidFill>
          </a:ln>
        </p:spPr>
        <p:txBody>
          <a:bodyPr/>
          <a:lstStyle/>
          <a:p>
            <a:endParaRPr/>
          </a:p>
        </p:txBody>
      </p:sp>
      <p:sp>
        <p:nvSpPr>
          <p:cNvPr id="235" name="t"/>
          <p:cNvSpPr txBox="1"/>
          <p:nvPr/>
        </p:nvSpPr>
        <p:spPr>
          <a:xfrm>
            <a:off x="548640" y="1700784"/>
            <a:ext cx="3520440" cy="548640"/>
          </a:xfrm>
          <a:prstGeom prst="rect">
            <a:avLst/>
          </a:prstGeom>
          <a:noFill/>
        </p:spPr>
        <p:txBody>
          <a:bodyPr wrap="square" lIns="63500" tIns="38100" rIns="63500" bIns="38100" anchor="ctr">
            <a:normAutofit/>
          </a:bodyPr>
          <a:lstStyle/>
          <a:p>
            <a:pPr algn="ctr">
              <a:lnSpc>
                <a:spcPct val="100000"/>
              </a:lnSpc>
              <a:spcAft>
                <a:spcPts val="300"/>
              </a:spcAft>
            </a:pPr>
            <a:r>
              <a:rPr lang="vi-VN" sz="2800" b="1" i="0" dirty="0">
                <a:solidFill>
                  <a:srgbClr val="0070C0"/>
                </a:solidFill>
                <a:latin typeface="Segoe UI"/>
                <a:cs typeface="Segoe UI"/>
              </a:rPr>
              <a:t>11/11</a:t>
            </a:r>
          </a:p>
        </p:txBody>
      </p:sp>
      <p:sp>
        <p:nvSpPr>
          <p:cNvPr id="236" name="t"/>
          <p:cNvSpPr txBox="1"/>
          <p:nvPr/>
        </p:nvSpPr>
        <p:spPr>
          <a:xfrm>
            <a:off x="640080" y="2304288"/>
            <a:ext cx="3337560" cy="457200"/>
          </a:xfrm>
          <a:prstGeom prst="rect">
            <a:avLst/>
          </a:prstGeom>
          <a:noFill/>
        </p:spPr>
        <p:txBody>
          <a:bodyPr wrap="square" lIns="63500" tIns="38100" rIns="63500" bIns="38100" anchor="t">
            <a:normAutofit/>
          </a:bodyPr>
          <a:lstStyle/>
          <a:p>
            <a:pPr algn="ctr">
              <a:lnSpc>
                <a:spcPct val="100000"/>
              </a:lnSpc>
              <a:spcAft>
                <a:spcPts val="300"/>
              </a:spcAft>
            </a:pPr>
            <a:r>
              <a:rPr lang="vi-VN" sz="1200" b="1" i="0" dirty="0">
                <a:solidFill>
                  <a:srgbClr val="5A6B7B"/>
                </a:solidFill>
                <a:latin typeface="Segoe UI"/>
                <a:cs typeface="Segoe UI"/>
              </a:rPr>
              <a:t>unit test đạt (100%)</a:t>
            </a:r>
          </a:p>
        </p:txBody>
      </p:sp>
      <p:sp>
        <p:nvSpPr>
          <p:cNvPr id="237" name="s"/>
          <p:cNvSpPr/>
          <p:nvPr/>
        </p:nvSpPr>
        <p:spPr>
          <a:xfrm>
            <a:off x="4279392" y="1554480"/>
            <a:ext cx="3520440" cy="1234440"/>
          </a:xfrm>
          <a:prstGeom prst="roundRect">
            <a:avLst/>
          </a:prstGeom>
          <a:solidFill>
            <a:srgbClr val="F2F8FE"/>
          </a:solidFill>
          <a:ln w="12700">
            <a:solidFill>
              <a:srgbClr val="D7E3EF"/>
            </a:solidFill>
          </a:ln>
        </p:spPr>
        <p:txBody>
          <a:bodyPr/>
          <a:lstStyle/>
          <a:p>
            <a:endParaRPr/>
          </a:p>
        </p:txBody>
      </p:sp>
      <p:sp>
        <p:nvSpPr>
          <p:cNvPr id="238" name="t"/>
          <p:cNvSpPr txBox="1"/>
          <p:nvPr/>
        </p:nvSpPr>
        <p:spPr>
          <a:xfrm>
            <a:off x="4279392" y="1700784"/>
            <a:ext cx="3520440" cy="548640"/>
          </a:xfrm>
          <a:prstGeom prst="rect">
            <a:avLst/>
          </a:prstGeom>
          <a:noFill/>
        </p:spPr>
        <p:txBody>
          <a:bodyPr wrap="square" lIns="63500" tIns="38100" rIns="63500" bIns="38100" anchor="ctr">
            <a:normAutofit/>
          </a:bodyPr>
          <a:lstStyle/>
          <a:p>
            <a:pPr algn="ctr">
              <a:lnSpc>
                <a:spcPct val="100000"/>
              </a:lnSpc>
              <a:spcAft>
                <a:spcPts val="300"/>
              </a:spcAft>
            </a:pPr>
            <a:r>
              <a:rPr lang="vi-VN" sz="2800" b="1" i="0" dirty="0">
                <a:solidFill>
                  <a:srgbClr val="0070C0"/>
                </a:solidFill>
                <a:latin typeface="Segoe UI"/>
                <a:cs typeface="Segoe UI"/>
              </a:rPr>
              <a:t>&lt; 5 ms</a:t>
            </a:r>
          </a:p>
        </p:txBody>
      </p:sp>
      <p:sp>
        <p:nvSpPr>
          <p:cNvPr id="239" name="t"/>
          <p:cNvSpPr txBox="1"/>
          <p:nvPr/>
        </p:nvSpPr>
        <p:spPr>
          <a:xfrm>
            <a:off x="4370832" y="2304288"/>
            <a:ext cx="3337560" cy="457200"/>
          </a:xfrm>
          <a:prstGeom prst="rect">
            <a:avLst/>
          </a:prstGeom>
          <a:noFill/>
        </p:spPr>
        <p:txBody>
          <a:bodyPr wrap="square" lIns="63500" tIns="38100" rIns="63500" bIns="38100" anchor="t">
            <a:normAutofit/>
          </a:bodyPr>
          <a:lstStyle/>
          <a:p>
            <a:pPr algn="ctr">
              <a:lnSpc>
                <a:spcPct val="100000"/>
              </a:lnSpc>
              <a:spcAft>
                <a:spcPts val="300"/>
              </a:spcAft>
            </a:pPr>
            <a:r>
              <a:rPr lang="vi-VN" sz="1200" b="1" i="0" dirty="0">
                <a:solidFill>
                  <a:srgbClr val="5A6B7B"/>
                </a:solidFill>
                <a:latin typeface="Segoe UI"/>
                <a:cs typeface="Segoe UI"/>
              </a:rPr>
              <a:t>độ trễ truy vấn DuckDB</a:t>
            </a:r>
          </a:p>
        </p:txBody>
      </p:sp>
      <p:sp>
        <p:nvSpPr>
          <p:cNvPr id="240" name="s"/>
          <p:cNvSpPr/>
          <p:nvPr/>
        </p:nvSpPr>
        <p:spPr>
          <a:xfrm>
            <a:off x="8010144" y="1554480"/>
            <a:ext cx="3520440" cy="1234440"/>
          </a:xfrm>
          <a:prstGeom prst="roundRect">
            <a:avLst/>
          </a:prstGeom>
          <a:solidFill>
            <a:srgbClr val="F2F8FE"/>
          </a:solidFill>
          <a:ln w="12700">
            <a:solidFill>
              <a:srgbClr val="D7E3EF"/>
            </a:solidFill>
          </a:ln>
        </p:spPr>
        <p:txBody>
          <a:bodyPr/>
          <a:lstStyle/>
          <a:p>
            <a:endParaRPr/>
          </a:p>
        </p:txBody>
      </p:sp>
      <p:sp>
        <p:nvSpPr>
          <p:cNvPr id="241" name="t"/>
          <p:cNvSpPr txBox="1"/>
          <p:nvPr/>
        </p:nvSpPr>
        <p:spPr>
          <a:xfrm>
            <a:off x="8010144" y="1700784"/>
            <a:ext cx="3520440" cy="548640"/>
          </a:xfrm>
          <a:prstGeom prst="rect">
            <a:avLst/>
          </a:prstGeom>
          <a:noFill/>
        </p:spPr>
        <p:txBody>
          <a:bodyPr wrap="square" lIns="63500" tIns="38100" rIns="63500" bIns="38100" anchor="ctr">
            <a:normAutofit/>
          </a:bodyPr>
          <a:lstStyle/>
          <a:p>
            <a:pPr algn="ctr">
              <a:lnSpc>
                <a:spcPct val="100000"/>
              </a:lnSpc>
              <a:spcAft>
                <a:spcPts val="300"/>
              </a:spcAft>
            </a:pPr>
            <a:r>
              <a:rPr lang="vi-VN" sz="2800" b="1" i="0" dirty="0">
                <a:solidFill>
                  <a:srgbClr val="0070C0"/>
                </a:solidFill>
                <a:latin typeface="Segoe UI"/>
                <a:cs typeface="Segoe UI"/>
              </a:rPr>
              <a:t>3</a:t>
            </a:r>
          </a:p>
        </p:txBody>
      </p:sp>
      <p:sp>
        <p:nvSpPr>
          <p:cNvPr id="242" name="t"/>
          <p:cNvSpPr txBox="1"/>
          <p:nvPr/>
        </p:nvSpPr>
        <p:spPr>
          <a:xfrm>
            <a:off x="8101584" y="2304288"/>
            <a:ext cx="3337560" cy="457200"/>
          </a:xfrm>
          <a:prstGeom prst="rect">
            <a:avLst/>
          </a:prstGeom>
          <a:noFill/>
        </p:spPr>
        <p:txBody>
          <a:bodyPr wrap="square" lIns="63500" tIns="38100" rIns="63500" bIns="38100" anchor="t">
            <a:normAutofit/>
          </a:bodyPr>
          <a:lstStyle/>
          <a:p>
            <a:pPr algn="ctr">
              <a:lnSpc>
                <a:spcPct val="100000"/>
              </a:lnSpc>
              <a:spcAft>
                <a:spcPts val="300"/>
              </a:spcAft>
            </a:pPr>
            <a:r>
              <a:rPr lang="vi-VN" sz="1200" b="1" i="0" dirty="0">
                <a:solidFill>
                  <a:srgbClr val="5A6B7B"/>
                </a:solidFill>
                <a:latin typeface="Segoe UI"/>
                <a:cs typeface="Segoe UI"/>
              </a:rPr>
              <a:t>trình duyệt kiểm thử</a:t>
            </a:r>
          </a:p>
        </p:txBody>
      </p:sp>
      <p:sp>
        <p:nvSpPr>
          <p:cNvPr id="243" name="t"/>
          <p:cNvSpPr txBox="1"/>
          <p:nvPr/>
        </p:nvSpPr>
        <p:spPr>
          <a:xfrm>
            <a:off x="548640" y="3063240"/>
            <a:ext cx="5486400" cy="365760"/>
          </a:xfrm>
          <a:prstGeom prst="rect">
            <a:avLst/>
          </a:prstGeom>
          <a:noFill/>
        </p:spPr>
        <p:txBody>
          <a:bodyPr wrap="square" lIns="63500" tIns="38100" rIns="63500" bIns="38100" anchor="t">
            <a:normAutofit/>
          </a:bodyPr>
          <a:lstStyle/>
          <a:p>
            <a:pPr algn="l">
              <a:lnSpc>
                <a:spcPct val="100000"/>
              </a:lnSpc>
              <a:spcAft>
                <a:spcPts val="300"/>
              </a:spcAft>
            </a:pPr>
            <a:r>
              <a:rPr lang="vi-VN" sz="1500" b="1" i="0" dirty="0">
                <a:solidFill>
                  <a:srgbClr val="005BA1"/>
                </a:solidFill>
                <a:latin typeface="Segoe UI"/>
                <a:cs typeface="Segoe UI"/>
              </a:rPr>
              <a:t>Kết quả đạt được</a:t>
            </a:r>
          </a:p>
        </p:txBody>
      </p:sp>
      <p:sp>
        <p:nvSpPr>
          <p:cNvPr id="244" name="t"/>
          <p:cNvSpPr txBox="1"/>
          <p:nvPr/>
        </p:nvSpPr>
        <p:spPr>
          <a:xfrm>
            <a:off x="548640" y="3401568"/>
            <a:ext cx="5486400" cy="1554480"/>
          </a:xfrm>
          <a:prstGeom prst="rect">
            <a:avLst/>
          </a:prstGeom>
          <a:noFill/>
        </p:spPr>
        <p:txBody>
          <a:bodyPr wrap="square" lIns="63500" tIns="38100" rIns="63500" bIns="38100" anchor="t">
            <a:normAutofit/>
          </a:bodyPr>
          <a:lstStyle/>
          <a:p>
            <a:pPr algn="l">
              <a:lnSpc>
                <a:spcPct val="105000"/>
              </a:lnSpc>
              <a:spcAft>
                <a:spcPts val="700"/>
              </a:spcAft>
            </a:pPr>
            <a:r>
              <a:rPr lang="vi-VN" sz="1350" b="1" i="0" dirty="0">
                <a:solidFill>
                  <a:srgbClr val="0070C0"/>
                </a:solidFill>
                <a:latin typeface="Segoe UI"/>
                <a:cs typeface="Segoe UI"/>
              </a:rPr>
              <a:t>●  </a:t>
            </a:r>
            <a:r>
              <a:rPr lang="vi-VN" sz="1350" b="0" i="0" dirty="0">
                <a:solidFill>
                  <a:srgbClr val="12263A"/>
                </a:solidFill>
                <a:latin typeface="Segoe UI"/>
                <a:cs typeface="Segoe UI"/>
              </a:rPr>
              <a:t>Bộ dữ liệu 61k dòng sạch, tự động hóa thu thập.</a:t>
            </a:r>
          </a:p>
          <a:p>
            <a:pPr algn="l">
              <a:lnSpc>
                <a:spcPct val="105000"/>
              </a:lnSpc>
              <a:spcAft>
                <a:spcPts val="700"/>
              </a:spcAft>
            </a:pPr>
            <a:r>
              <a:rPr lang="vi-VN" sz="1350" b="1" i="0" dirty="0">
                <a:solidFill>
                  <a:srgbClr val="0070C0"/>
                </a:solidFill>
                <a:latin typeface="Segoe UI"/>
                <a:cs typeface="Segoe UI"/>
              </a:rPr>
              <a:t>●  </a:t>
            </a:r>
            <a:r>
              <a:rPr lang="vi-VN" sz="1350" b="0" i="0" dirty="0">
                <a:solidFill>
                  <a:srgbClr val="12263A"/>
                </a:solidFill>
                <a:latin typeface="Segoe UI"/>
                <a:cs typeface="Segoe UI"/>
              </a:rPr>
              <a:t>Dashboard tương tác 5 phân hệ, 3 insight khí hậu.</a:t>
            </a:r>
          </a:p>
          <a:p>
            <a:pPr algn="l">
              <a:lnSpc>
                <a:spcPct val="105000"/>
              </a:lnSpc>
              <a:spcAft>
                <a:spcPts val="700"/>
              </a:spcAft>
            </a:pPr>
            <a:r>
              <a:rPr lang="vi-VN" sz="1350" b="1" i="0" dirty="0">
                <a:solidFill>
                  <a:srgbClr val="0070C0"/>
                </a:solidFill>
                <a:latin typeface="Segoe UI"/>
                <a:cs typeface="Segoe UI"/>
              </a:rPr>
              <a:t>●  </a:t>
            </a:r>
            <a:r>
              <a:rPr lang="vi-VN" sz="1350" b="0" i="0" dirty="0">
                <a:solidFill>
                  <a:srgbClr val="12263A"/>
                </a:solidFill>
                <a:latin typeface="Segoe UI"/>
                <a:cs typeface="Segoe UI"/>
              </a:rPr>
              <a:t>AI Analyst an toàn dưới kiểm soát con người.</a:t>
            </a:r>
          </a:p>
        </p:txBody>
      </p:sp>
      <p:sp>
        <p:nvSpPr>
          <p:cNvPr id="245" name="t"/>
          <p:cNvSpPr txBox="1"/>
          <p:nvPr/>
        </p:nvSpPr>
        <p:spPr>
          <a:xfrm>
            <a:off x="6309360" y="3063240"/>
            <a:ext cx="5486400" cy="365760"/>
          </a:xfrm>
          <a:prstGeom prst="rect">
            <a:avLst/>
          </a:prstGeom>
          <a:noFill/>
        </p:spPr>
        <p:txBody>
          <a:bodyPr wrap="square" lIns="63500" tIns="38100" rIns="63500" bIns="38100" anchor="t">
            <a:normAutofit/>
          </a:bodyPr>
          <a:lstStyle/>
          <a:p>
            <a:pPr algn="l">
              <a:lnSpc>
                <a:spcPct val="100000"/>
              </a:lnSpc>
              <a:spcAft>
                <a:spcPts val="300"/>
              </a:spcAft>
            </a:pPr>
            <a:r>
              <a:rPr lang="vi-VN" sz="1500" b="1" i="0" dirty="0">
                <a:solidFill>
                  <a:srgbClr val="005BA1"/>
                </a:solidFill>
                <a:latin typeface="Segoe UI"/>
                <a:cs typeface="Segoe UI"/>
              </a:rPr>
              <a:t>Hướng phát triển</a:t>
            </a:r>
          </a:p>
        </p:txBody>
      </p:sp>
      <p:sp>
        <p:nvSpPr>
          <p:cNvPr id="246" name="t"/>
          <p:cNvSpPr txBox="1"/>
          <p:nvPr/>
        </p:nvSpPr>
        <p:spPr>
          <a:xfrm>
            <a:off x="6309360" y="3401568"/>
            <a:ext cx="5303520" cy="1554480"/>
          </a:xfrm>
          <a:prstGeom prst="rect">
            <a:avLst/>
          </a:prstGeom>
          <a:noFill/>
        </p:spPr>
        <p:txBody>
          <a:bodyPr wrap="square" lIns="63500" tIns="38100" rIns="63500" bIns="38100" anchor="t">
            <a:normAutofit/>
          </a:bodyPr>
          <a:lstStyle/>
          <a:p>
            <a:pPr algn="l">
              <a:lnSpc>
                <a:spcPct val="105000"/>
              </a:lnSpc>
              <a:spcAft>
                <a:spcPts val="700"/>
              </a:spcAft>
            </a:pPr>
            <a:r>
              <a:rPr lang="vi-VN" sz="1350" b="1" i="0" dirty="0">
                <a:solidFill>
                  <a:srgbClr val="0070C0"/>
                </a:solidFill>
                <a:latin typeface="Segoe UI"/>
                <a:cs typeface="Segoe UI"/>
              </a:rPr>
              <a:t>●  </a:t>
            </a:r>
            <a:r>
              <a:rPr lang="vi-VN" sz="1350" b="0" i="0" dirty="0">
                <a:solidFill>
                  <a:srgbClr val="12263A"/>
                </a:solidFill>
                <a:latin typeface="Segoe UI"/>
                <a:cs typeface="Segoe UI"/>
              </a:rPr>
              <a:t>Tích hợp dữ liệu trạm đo thực tế thời gian thực.</a:t>
            </a:r>
          </a:p>
          <a:p>
            <a:pPr algn="l">
              <a:lnSpc>
                <a:spcPct val="105000"/>
              </a:lnSpc>
              <a:spcAft>
                <a:spcPts val="700"/>
              </a:spcAft>
            </a:pPr>
            <a:r>
              <a:rPr lang="vi-VN" sz="1350" b="1" i="0" dirty="0">
                <a:solidFill>
                  <a:srgbClr val="0070C0"/>
                </a:solidFill>
                <a:latin typeface="Segoe UI"/>
                <a:cs typeface="Segoe UI"/>
              </a:rPr>
              <a:t>●  </a:t>
            </a:r>
            <a:r>
              <a:rPr lang="vi-VN" sz="1350" b="0" i="0" dirty="0">
                <a:solidFill>
                  <a:srgbClr val="12263A"/>
                </a:solidFill>
                <a:latin typeface="Segoe UI"/>
                <a:cs typeface="Segoe UI"/>
              </a:rPr>
              <a:t>AI tự thiết kế biểu đồ &amp; kết xuất báo cáo tiếng Việt.</a:t>
            </a:r>
          </a:p>
          <a:p>
            <a:pPr algn="l">
              <a:lnSpc>
                <a:spcPct val="105000"/>
              </a:lnSpc>
              <a:spcAft>
                <a:spcPts val="700"/>
              </a:spcAft>
            </a:pPr>
            <a:r>
              <a:rPr lang="vi-VN" sz="1350" b="1" i="0" dirty="0">
                <a:solidFill>
                  <a:srgbClr val="0070C0"/>
                </a:solidFill>
                <a:latin typeface="Segoe UI"/>
                <a:cs typeface="Segoe UI"/>
              </a:rPr>
              <a:t>●  </a:t>
            </a:r>
            <a:r>
              <a:rPr lang="vi-VN" sz="1350" b="0" i="0" dirty="0">
                <a:solidFill>
                  <a:srgbClr val="12263A"/>
                </a:solidFill>
                <a:latin typeface="Segoe UI"/>
                <a:cs typeface="Segoe UI"/>
              </a:rPr>
              <a:t>Triển khai đám mây phục vụ nhiều người dùng.</a:t>
            </a:r>
          </a:p>
        </p:txBody>
      </p:sp>
      <p:sp>
        <p:nvSpPr>
          <p:cNvPr id="247" name="s"/>
          <p:cNvSpPr/>
          <p:nvPr/>
        </p:nvSpPr>
        <p:spPr>
          <a:xfrm>
            <a:off x="548640" y="5212080"/>
            <a:ext cx="11091672" cy="777240"/>
          </a:xfrm>
          <a:prstGeom prst="roundRect">
            <a:avLst/>
          </a:prstGeom>
          <a:solidFill>
            <a:srgbClr val="E8F3FC"/>
          </a:solidFill>
          <a:ln>
            <a:noFill/>
          </a:ln>
        </p:spPr>
        <p:txBody>
          <a:bodyPr/>
          <a:lstStyle/>
          <a:p>
            <a:endParaRPr/>
          </a:p>
        </p:txBody>
      </p:sp>
      <p:sp>
        <p:nvSpPr>
          <p:cNvPr id="248" name="s"/>
          <p:cNvSpPr/>
          <p:nvPr/>
        </p:nvSpPr>
        <p:spPr>
          <a:xfrm>
            <a:off x="548640" y="5212080"/>
            <a:ext cx="73152" cy="777240"/>
          </a:xfrm>
          <a:prstGeom prst="rect">
            <a:avLst/>
          </a:prstGeom>
          <a:solidFill>
            <a:srgbClr val="0070C0"/>
          </a:solidFill>
          <a:ln>
            <a:noFill/>
          </a:ln>
        </p:spPr>
        <p:txBody>
          <a:bodyPr/>
          <a:lstStyle/>
          <a:p>
            <a:endParaRPr/>
          </a:p>
        </p:txBody>
      </p:sp>
      <p:sp>
        <p:nvSpPr>
          <p:cNvPr id="249" name="t"/>
          <p:cNvSpPr txBox="1"/>
          <p:nvPr/>
        </p:nvSpPr>
        <p:spPr>
          <a:xfrm>
            <a:off x="822960" y="5212080"/>
            <a:ext cx="10607040" cy="777240"/>
          </a:xfrm>
          <a:prstGeom prst="rect">
            <a:avLst/>
          </a:prstGeom>
          <a:noFill/>
        </p:spPr>
        <p:txBody>
          <a:bodyPr wrap="square" lIns="63500" tIns="38100" rIns="63500" bIns="38100" anchor="ctr">
            <a:normAutofit/>
          </a:bodyPr>
          <a:lstStyle/>
          <a:p>
            <a:pPr algn="ctr">
              <a:lnSpc>
                <a:spcPct val="100000"/>
              </a:lnSpc>
              <a:spcAft>
                <a:spcPts val="300"/>
              </a:spcAft>
            </a:pPr>
            <a:r>
              <a:rPr lang="vi-VN" sz="1500" b="1" i="0" dirty="0">
                <a:solidFill>
                  <a:srgbClr val="005BA1"/>
                </a:solidFill>
                <a:latin typeface="Segoe UI"/>
                <a:cs typeface="Segoe UI"/>
              </a:rPr>
              <a:t>Vietnam Climate Pulse — dữ liệu sạch · dashboard trực quan · AI an toàn, minh bạch.</a:t>
            </a:r>
          </a:p>
        </p:txBody>
      </p:sp>
      <p:sp>
        <p:nvSpPr>
          <p:cNvPr id="250" name="s"/>
          <p:cNvSpPr/>
          <p:nvPr/>
        </p:nvSpPr>
        <p:spPr>
          <a:xfrm>
            <a:off x="548640" y="6327648"/>
            <a:ext cx="11091672" cy="12802"/>
          </a:xfrm>
          <a:prstGeom prst="rect">
            <a:avLst/>
          </a:prstGeom>
          <a:solidFill>
            <a:srgbClr val="D7E3EF"/>
          </a:solidFill>
          <a:ln>
            <a:noFill/>
          </a:ln>
        </p:spPr>
        <p:txBody>
          <a:bodyPr/>
          <a:lstStyle/>
          <a:p>
            <a:endParaRPr/>
          </a:p>
        </p:txBody>
      </p:sp>
      <p:sp>
        <p:nvSpPr>
          <p:cNvPr id="251" name="t"/>
          <p:cNvSpPr txBox="1"/>
          <p:nvPr/>
        </p:nvSpPr>
        <p:spPr>
          <a:xfrm>
            <a:off x="548640" y="6373368"/>
            <a:ext cx="8229600" cy="320040"/>
          </a:xfrm>
          <a:prstGeom prst="rect">
            <a:avLst/>
          </a:prstGeom>
          <a:noFill/>
        </p:spPr>
        <p:txBody>
          <a:bodyPr wrap="square" lIns="63500" tIns="38100" rIns="63500" bIns="38100" anchor="ctr">
            <a:normAutofit/>
          </a:bodyPr>
          <a:lstStyle/>
          <a:p>
            <a:pPr algn="l">
              <a:lnSpc>
                <a:spcPct val="100000"/>
              </a:lnSpc>
              <a:spcAft>
                <a:spcPts val="300"/>
              </a:spcAft>
            </a:pPr>
            <a:r>
              <a:rPr lang="vi-VN" sz="1200" b="1" i="0" dirty="0">
                <a:solidFill>
                  <a:srgbClr val="005BA1"/>
                </a:solidFill>
                <a:latin typeface="Segoe UI"/>
                <a:cs typeface="Segoe UI"/>
              </a:rPr>
              <a:t>Kiểm thử &amp; Kết luận</a:t>
            </a:r>
          </a:p>
        </p:txBody>
      </p:sp>
      <p:sp>
        <p:nvSpPr>
          <p:cNvPr id="252" name="t"/>
          <p:cNvSpPr txBox="1"/>
          <p:nvPr/>
        </p:nvSpPr>
        <p:spPr>
          <a:xfrm>
            <a:off x="10515600" y="6373368"/>
            <a:ext cx="1124712" cy="320040"/>
          </a:xfrm>
          <a:prstGeom prst="rect">
            <a:avLst/>
          </a:prstGeom>
          <a:noFill/>
        </p:spPr>
        <p:txBody>
          <a:bodyPr wrap="square" lIns="63500" tIns="38100" rIns="63500" bIns="38100" anchor="ctr">
            <a:normAutofit/>
          </a:bodyPr>
          <a:lstStyle/>
          <a:p>
            <a:pPr algn="r">
              <a:lnSpc>
                <a:spcPct val="100000"/>
              </a:lnSpc>
              <a:spcAft>
                <a:spcPts val="300"/>
              </a:spcAft>
            </a:pPr>
            <a:r>
              <a:rPr lang="vi-VN" sz="1300" b="1" i="0" dirty="0">
                <a:solidFill>
                  <a:srgbClr val="002B5C"/>
                </a:solidFill>
                <a:latin typeface="Segoe UI"/>
                <a:cs typeface="Segoe U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s"/>
          <p:cNvSpPr/>
          <p:nvPr/>
        </p:nvSpPr>
        <p:spPr>
          <a:xfrm>
            <a:off x="0" y="0"/>
            <a:ext cx="12191695" cy="100584"/>
          </a:xfrm>
          <a:prstGeom prst="rect">
            <a:avLst/>
          </a:prstGeom>
          <a:solidFill>
            <a:srgbClr val="0070C0"/>
          </a:solidFill>
          <a:ln>
            <a:noFill/>
          </a:ln>
        </p:spPr>
        <p:txBody>
          <a:bodyPr/>
          <a:lstStyle/>
          <a:p>
            <a:endParaRPr/>
          </a:p>
        </p:txBody>
      </p:sp>
      <p:sp>
        <p:nvSpPr>
          <p:cNvPr id="254" name="s"/>
          <p:cNvSpPr/>
          <p:nvPr/>
        </p:nvSpPr>
        <p:spPr>
          <a:xfrm>
            <a:off x="4251960" y="1417320"/>
            <a:ext cx="310896" cy="310896"/>
          </a:xfrm>
          <a:prstGeom prst="star5">
            <a:avLst/>
          </a:prstGeom>
          <a:solidFill>
            <a:srgbClr val="EF6C00"/>
          </a:solidFill>
          <a:ln>
            <a:noFill/>
          </a:ln>
        </p:spPr>
        <p:txBody>
          <a:bodyPr/>
          <a:lstStyle/>
          <a:p>
            <a:endParaRPr/>
          </a:p>
        </p:txBody>
      </p:sp>
      <p:sp>
        <p:nvSpPr>
          <p:cNvPr id="255" name="s"/>
          <p:cNvSpPr/>
          <p:nvPr/>
        </p:nvSpPr>
        <p:spPr>
          <a:xfrm>
            <a:off x="7635240" y="1188720"/>
            <a:ext cx="384048" cy="384048"/>
          </a:xfrm>
          <a:prstGeom prst="star5">
            <a:avLst/>
          </a:prstGeom>
          <a:solidFill>
            <a:srgbClr val="0070C0"/>
          </a:solidFill>
          <a:ln>
            <a:noFill/>
          </a:ln>
        </p:spPr>
        <p:txBody>
          <a:bodyPr/>
          <a:lstStyle/>
          <a:p>
            <a:endParaRPr/>
          </a:p>
        </p:txBody>
      </p:sp>
      <p:sp>
        <p:nvSpPr>
          <p:cNvPr id="256" name="s"/>
          <p:cNvSpPr/>
          <p:nvPr/>
        </p:nvSpPr>
        <p:spPr>
          <a:xfrm>
            <a:off x="7818120" y="2148840"/>
            <a:ext cx="256032" cy="256032"/>
          </a:xfrm>
          <a:prstGeom prst="star5">
            <a:avLst/>
          </a:prstGeom>
          <a:solidFill>
            <a:srgbClr val="EF6C00"/>
          </a:solidFill>
          <a:ln>
            <a:noFill/>
          </a:ln>
        </p:spPr>
        <p:txBody>
          <a:bodyPr/>
          <a:lstStyle/>
          <a:p>
            <a:endParaRPr/>
          </a:p>
        </p:txBody>
      </p:sp>
      <p:sp>
        <p:nvSpPr>
          <p:cNvPr id="257" name="s"/>
          <p:cNvSpPr/>
          <p:nvPr/>
        </p:nvSpPr>
        <p:spPr>
          <a:xfrm>
            <a:off x="5385816" y="987552"/>
            <a:ext cx="1417320" cy="1417320"/>
          </a:xfrm>
          <a:prstGeom prst="smileyFace">
            <a:avLst/>
          </a:prstGeom>
          <a:solidFill>
            <a:srgbClr val="FFC83D"/>
          </a:solidFill>
          <a:ln w="19050">
            <a:solidFill>
              <a:srgbClr val="002B5C"/>
            </a:solidFill>
          </a:ln>
        </p:spPr>
        <p:txBody>
          <a:bodyPr/>
          <a:lstStyle/>
          <a:p>
            <a:endParaRPr/>
          </a:p>
        </p:txBody>
      </p:sp>
      <p:sp>
        <p:nvSpPr>
          <p:cNvPr id="258" name="t"/>
          <p:cNvSpPr txBox="1"/>
          <p:nvPr/>
        </p:nvSpPr>
        <p:spPr>
          <a:xfrm>
            <a:off x="548640" y="2770632"/>
            <a:ext cx="11091672" cy="822960"/>
          </a:xfrm>
          <a:prstGeom prst="rect">
            <a:avLst/>
          </a:prstGeom>
          <a:noFill/>
        </p:spPr>
        <p:txBody>
          <a:bodyPr wrap="square" lIns="63500" tIns="38100" rIns="63500" bIns="38100" anchor="ctr">
            <a:normAutofit/>
          </a:bodyPr>
          <a:lstStyle/>
          <a:p>
            <a:pPr algn="ctr">
              <a:lnSpc>
                <a:spcPct val="100000"/>
              </a:lnSpc>
              <a:spcAft>
                <a:spcPts val="300"/>
              </a:spcAft>
            </a:pPr>
            <a:r>
              <a:rPr lang="vi-VN" sz="4000" b="1" i="0" dirty="0">
                <a:solidFill>
                  <a:srgbClr val="002B5C"/>
                </a:solidFill>
                <a:latin typeface="Segoe UI"/>
                <a:cs typeface="Segoe UI"/>
              </a:rPr>
              <a:t>Cảm ơn!</a:t>
            </a:r>
          </a:p>
        </p:txBody>
      </p:sp>
      <p:sp>
        <p:nvSpPr>
          <p:cNvPr id="259" name="t"/>
          <p:cNvSpPr txBox="1"/>
          <p:nvPr/>
        </p:nvSpPr>
        <p:spPr>
          <a:xfrm>
            <a:off x="274472" y="3626510"/>
            <a:ext cx="11643055" cy="1185356"/>
          </a:xfrm>
          <a:prstGeom prst="rect">
            <a:avLst/>
          </a:prstGeom>
          <a:noFill/>
        </p:spPr>
        <p:txBody>
          <a:bodyPr wrap="square" lIns="63500" tIns="38100" rIns="63500" bIns="38100" anchor="ctr">
            <a:normAutofit/>
          </a:bodyPr>
          <a:lstStyle/>
          <a:p>
            <a:pPr algn="ctr">
              <a:lnSpc>
                <a:spcPct val="100000"/>
              </a:lnSpc>
              <a:spcAft>
                <a:spcPts val="300"/>
              </a:spcAft>
            </a:pPr>
            <a:r>
              <a:rPr lang="vi-VN" sz="3200" b="0" i="0" dirty="0">
                <a:solidFill>
                  <a:srgbClr val="5A6B7B"/>
                </a:solidFill>
                <a:latin typeface="Segoe UI"/>
                <a:cs typeface="Segoe UI"/>
              </a:rPr>
              <a:t>Cảm ơn thầy và các bạn đã lắng nghe.</a:t>
            </a:r>
          </a:p>
        </p:txBody>
      </p:sp>
      <p:sp>
        <p:nvSpPr>
          <p:cNvPr id="262" name="t"/>
          <p:cNvSpPr txBox="1"/>
          <p:nvPr/>
        </p:nvSpPr>
        <p:spPr>
          <a:xfrm>
            <a:off x="548640" y="5120640"/>
            <a:ext cx="11091672" cy="365760"/>
          </a:xfrm>
          <a:prstGeom prst="rect">
            <a:avLst/>
          </a:prstGeom>
          <a:noFill/>
        </p:spPr>
        <p:txBody>
          <a:bodyPr wrap="square" lIns="63500" tIns="38100" rIns="63500" bIns="38100" anchor="ctr">
            <a:normAutofit/>
          </a:bodyPr>
          <a:lstStyle/>
          <a:p>
            <a:pPr algn="ctr">
              <a:lnSpc>
                <a:spcPct val="100000"/>
              </a:lnSpc>
              <a:spcAft>
                <a:spcPts val="300"/>
              </a:spcAft>
            </a:pPr>
            <a:r>
              <a:rPr lang="vi-VN" sz="1400" b="1" i="0" dirty="0">
                <a:solidFill>
                  <a:srgbClr val="005BA1"/>
                </a:solidFill>
                <a:latin typeface="Segoe UI"/>
                <a:cs typeface="Segoe UI"/>
              </a:rPr>
              <a:t>Vietnam Climate Pulse · Nhóm 1 — Trực quan hóa dữ liệu</a:t>
            </a:r>
          </a:p>
        </p:txBody>
      </p:sp>
      <p:sp>
        <p:nvSpPr>
          <p:cNvPr id="263" name="t"/>
          <p:cNvSpPr txBox="1"/>
          <p:nvPr/>
        </p:nvSpPr>
        <p:spPr>
          <a:xfrm>
            <a:off x="548640" y="5486400"/>
            <a:ext cx="11091672" cy="365760"/>
          </a:xfrm>
          <a:prstGeom prst="rect">
            <a:avLst/>
          </a:prstGeom>
          <a:noFill/>
        </p:spPr>
        <p:txBody>
          <a:bodyPr wrap="square" lIns="63500" tIns="38100" rIns="63500" bIns="38100" anchor="ctr">
            <a:normAutofit/>
          </a:bodyPr>
          <a:lstStyle/>
          <a:p>
            <a:pPr algn="ctr">
              <a:lnSpc>
                <a:spcPct val="100000"/>
              </a:lnSpc>
              <a:spcAft>
                <a:spcPts val="300"/>
              </a:spcAft>
            </a:pPr>
            <a:r>
              <a:rPr lang="vi-VN" sz="1200" b="0" i="0" dirty="0">
                <a:solidFill>
                  <a:srgbClr val="5A6B7B"/>
                </a:solidFill>
                <a:latin typeface="Segoe UI"/>
                <a:cs typeface="Segoe UI"/>
              </a:rPr>
              <a:t>Lê Lâm Trí Đức · Hoàng Quốc Việt · Nguyễn Lê Thế Vinh · Phạm Quang Vinh</a:t>
            </a:r>
          </a:p>
        </p:txBody>
      </p:sp>
      <p:sp>
        <p:nvSpPr>
          <p:cNvPr id="264" name="s"/>
          <p:cNvSpPr/>
          <p:nvPr/>
        </p:nvSpPr>
        <p:spPr>
          <a:xfrm>
            <a:off x="548640" y="6327648"/>
            <a:ext cx="11091672" cy="12802"/>
          </a:xfrm>
          <a:prstGeom prst="rect">
            <a:avLst/>
          </a:prstGeom>
          <a:solidFill>
            <a:srgbClr val="D7E3EF"/>
          </a:solidFill>
          <a:ln>
            <a:noFill/>
          </a:ln>
        </p:spPr>
        <p:txBody>
          <a:bodyPr/>
          <a:lstStyle/>
          <a:p>
            <a:endParaRPr/>
          </a:p>
        </p:txBody>
      </p:sp>
      <p:sp>
        <p:nvSpPr>
          <p:cNvPr id="265" name="t"/>
          <p:cNvSpPr txBox="1"/>
          <p:nvPr/>
        </p:nvSpPr>
        <p:spPr>
          <a:xfrm>
            <a:off x="548640" y="6373368"/>
            <a:ext cx="8229600" cy="320040"/>
          </a:xfrm>
          <a:prstGeom prst="rect">
            <a:avLst/>
          </a:prstGeom>
          <a:noFill/>
        </p:spPr>
        <p:txBody>
          <a:bodyPr wrap="square" lIns="63500" tIns="38100" rIns="63500" bIns="38100" anchor="ctr">
            <a:normAutofit/>
          </a:bodyPr>
          <a:lstStyle/>
          <a:p>
            <a:pPr algn="l">
              <a:lnSpc>
                <a:spcPct val="100000"/>
              </a:lnSpc>
              <a:spcAft>
                <a:spcPts val="300"/>
              </a:spcAft>
            </a:pPr>
            <a:r>
              <a:rPr lang="vi-VN" sz="1200" b="1" i="0" dirty="0">
                <a:solidFill>
                  <a:srgbClr val="005BA1"/>
                </a:solidFill>
                <a:latin typeface="Segoe UI"/>
                <a:cs typeface="Segoe UI"/>
              </a:rPr>
              <a:t>Cảm ơn</a:t>
            </a:r>
          </a:p>
        </p:txBody>
      </p:sp>
      <p:sp>
        <p:nvSpPr>
          <p:cNvPr id="266" name="t"/>
          <p:cNvSpPr txBox="1"/>
          <p:nvPr/>
        </p:nvSpPr>
        <p:spPr>
          <a:xfrm>
            <a:off x="10515600" y="6373368"/>
            <a:ext cx="1124712" cy="320040"/>
          </a:xfrm>
          <a:prstGeom prst="rect">
            <a:avLst/>
          </a:prstGeom>
          <a:noFill/>
        </p:spPr>
        <p:txBody>
          <a:bodyPr wrap="square" lIns="63500" tIns="38100" rIns="63500" bIns="38100" anchor="ctr">
            <a:normAutofit/>
          </a:bodyPr>
          <a:lstStyle/>
          <a:p>
            <a:pPr algn="r">
              <a:lnSpc>
                <a:spcPct val="100000"/>
              </a:lnSpc>
              <a:spcAft>
                <a:spcPts val="300"/>
              </a:spcAft>
            </a:pPr>
            <a:r>
              <a:rPr lang="vi-VN" sz="1300" b="1" i="0" dirty="0">
                <a:solidFill>
                  <a:srgbClr val="002B5C"/>
                </a:solidFill>
                <a:latin typeface="Segoe UI"/>
                <a:cs typeface="Segoe UI"/>
              </a:rPr>
              <a:t>11</a:t>
            </a:r>
          </a:p>
        </p:txBody>
      </p:sp>
    </p:spTree>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0070C0"/>
      </a:accent1>
      <a:accent2>
        <a:srgbClr val="005BA1"/>
      </a:accent2>
      <a:accent3>
        <a:srgbClr val="00838F"/>
      </a:accent3>
      <a:accent4>
        <a:srgbClr val="EF6C00"/>
      </a:accent4>
      <a:accent5>
        <a:srgbClr val="C62828"/>
      </a:accent5>
      <a:accent6>
        <a:srgbClr val="002B5C"/>
      </a:accent6>
      <a:hlink>
        <a:srgbClr val="0070C0"/>
      </a:hlink>
      <a:folHlink>
        <a:srgbClr val="954F72"/>
      </a:folHlink>
    </a:clrScheme>
    <a:fontScheme name="Office">
      <a:majorFont>
        <a:latin typeface="Segoe UI"/>
        <a:ea typeface=""/>
        <a:cs typeface=""/>
      </a:majorFont>
      <a:minorFont>
        <a:latin typeface="Segoe UI"/>
        <a:ea typeface=""/>
        <a:cs typeface=""/>
      </a:minorFont>
    </a:fontScheme>
    <a:fmtScheme name="Office">
      <a:fillStyleLst>
        <a:solidFill>
          <a:schemeClr val="phClr"/>
        </a:solidFill>
        <a:solidFill>
          <a:schemeClr val="phClr"/>
        </a:solidFill>
        <a:solidFill>
          <a:schemeClr val="phClr"/>
        </a:soli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1316</Words>
  <Application>Microsoft Office PowerPoint</Application>
  <PresentationFormat>Widescreen</PresentationFormat>
  <Paragraphs>182</Paragraphs>
  <Slides>11</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Segoe UI</vt:lpstr>
      <vt:lpstr>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ACER</dc:creator>
  <cp:lastModifiedBy>ACER</cp:lastModifiedBy>
  <cp:revision>5</cp:revision>
  <dcterms:modified xsi:type="dcterms:W3CDTF">2026-07-25T08:57:11Z</dcterms:modified>
</cp:coreProperties>
</file>